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34"/>
  </p:handoutMasterIdLst>
  <p:sldIdLst>
    <p:sldId id="687" r:id="rId3"/>
    <p:sldId id="1104" r:id="rId5"/>
    <p:sldId id="1106" r:id="rId6"/>
    <p:sldId id="1107" r:id="rId7"/>
    <p:sldId id="1108" r:id="rId8"/>
    <p:sldId id="1109" r:id="rId9"/>
    <p:sldId id="1110" r:id="rId10"/>
    <p:sldId id="1111" r:id="rId11"/>
    <p:sldId id="1126" r:id="rId12"/>
    <p:sldId id="1113" r:id="rId13"/>
    <p:sldId id="1114" r:id="rId14"/>
    <p:sldId id="1115" r:id="rId15"/>
    <p:sldId id="1116" r:id="rId16"/>
    <p:sldId id="1117" r:id="rId17"/>
    <p:sldId id="1118" r:id="rId18"/>
    <p:sldId id="1119" r:id="rId19"/>
    <p:sldId id="1132" r:id="rId20"/>
    <p:sldId id="1127" r:id="rId21"/>
    <p:sldId id="1128" r:id="rId22"/>
    <p:sldId id="1129" r:id="rId23"/>
    <p:sldId id="1130" r:id="rId24"/>
    <p:sldId id="1131" r:id="rId25"/>
    <p:sldId id="1105" r:id="rId26"/>
    <p:sldId id="1120" r:id="rId27"/>
    <p:sldId id="1121" r:id="rId28"/>
    <p:sldId id="1122" r:id="rId29"/>
    <p:sldId id="1123" r:id="rId30"/>
    <p:sldId id="1124" r:id="rId31"/>
    <p:sldId id="1125" r:id="rId32"/>
    <p:sldId id="328" r:id="rId33"/>
  </p:sldIdLst>
  <p:sldSz cx="12192000" cy="6858000"/>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F2D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tags" Target="tags/tag6.xml"/><Relationship Id="rId38" Type="http://schemas.openxmlformats.org/officeDocument/2006/relationships/commentAuthors" Target="commentAuthors.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handoutMaster" Target="handoutMasters/handoutMaster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2024.3.15  17:17</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5" name="页脚占位符 4"/>
          <p:cNvSpPr>
            <a:spLocks noGrp="1"/>
          </p:cNvSpPr>
          <p:nvPr>
            <p:ph type="ftr" sz="quarter" idx="11"/>
          </p:nvPr>
        </p:nvSpPr>
        <p:spPr/>
        <p:txBody>
          <a:bodyPr/>
          <a:lstStyle/>
          <a:p>
            <a:r>
              <a:rPr lang="zh-CN" altLang="en-US"/>
              <a:t>ch01_绪论</a:t>
            </a:r>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zh-CN" altLang="en-US"/>
              <a:t>ch01_绪论</a:t>
            </a:r>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24815" y="615950"/>
            <a:ext cx="5579745" cy="59817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615950"/>
            <a:ext cx="5588635" cy="59817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11"/>
          </p:nvPr>
        </p:nvSpPr>
        <p:spPr/>
        <p:txBody>
          <a:bodyPr/>
          <a:lstStyle/>
          <a:p>
            <a:r>
              <a:rPr lang="zh-CN" altLang="en-US"/>
              <a:t>ch01_绪论</a:t>
            </a:r>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521970"/>
          </a:xfrm>
        </p:spPr>
        <p:txBody>
          <a:bodyPr wrap="square"/>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24800" y="604520"/>
            <a:ext cx="5580000" cy="521970"/>
          </a:xfrm>
        </p:spPr>
        <p:txBody>
          <a:bodyPr anchor="b">
            <a:spAutoFit/>
          </a:bodyPr>
          <a:lstStyle>
            <a:lvl1pPr marL="0" indent="0">
              <a:lnSpc>
                <a:spcPct val="100000"/>
              </a:lnSpc>
              <a:spcBef>
                <a:spcPts val="0"/>
              </a:spcBef>
              <a:spcAft>
                <a:spcPts val="0"/>
              </a:spcAft>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24815" y="1229995"/>
            <a:ext cx="5579745" cy="538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604520"/>
            <a:ext cx="5589270" cy="521970"/>
          </a:xfrm>
        </p:spPr>
        <p:txBody>
          <a:bodyPr anchor="b">
            <a:spAutoFit/>
          </a:bodyPr>
          <a:lstStyle>
            <a:lvl1pPr marL="0" indent="0">
              <a:lnSpc>
                <a:spcPct val="100000"/>
              </a:lnSpc>
              <a:spcBef>
                <a:spcPts val="0"/>
              </a:spcBef>
              <a:spcAft>
                <a:spcPts val="0"/>
              </a:spcAft>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1229995"/>
            <a:ext cx="5589270" cy="538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8" name="页脚占位符 7"/>
          <p:cNvSpPr>
            <a:spLocks noGrp="1"/>
          </p:cNvSpPr>
          <p:nvPr>
            <p:ph type="ftr" sz="quarter" idx="11"/>
          </p:nvPr>
        </p:nvSpPr>
        <p:spPr/>
        <p:txBody>
          <a:bodyPr/>
          <a:lstStyle/>
          <a:p>
            <a:r>
              <a:rPr lang="zh-CN" altLang="en-US"/>
              <a:t>ch01_绪论</a:t>
            </a:r>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4" name="页脚占位符 3"/>
          <p:cNvSpPr>
            <a:spLocks noGrp="1"/>
          </p:cNvSpPr>
          <p:nvPr>
            <p:ph type="ftr" sz="quarter" idx="11"/>
          </p:nvPr>
        </p:nvSpPr>
        <p:spPr/>
        <p:txBody>
          <a:bodyPr/>
          <a:lstStyle/>
          <a:p>
            <a:r>
              <a:rPr lang="zh-CN" altLang="en-US"/>
              <a:t>ch01_绪论</a:t>
            </a:r>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r>
              <a:rPr lang="zh-CN" altLang="en-US"/>
              <a:t>ch01_绪论</a:t>
            </a:r>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horz"/>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页脚占位符 5"/>
          <p:cNvSpPr>
            <a:spLocks noGrp="1"/>
          </p:cNvSpPr>
          <p:nvPr>
            <p:ph type="ftr" sz="quarter" idx="11"/>
            <p:custDataLst>
              <p:tags r:id="rId2"/>
            </p:custDataLst>
          </p:nvPr>
        </p:nvSpPr>
        <p:spPr/>
        <p:txBody>
          <a:bodyPr/>
          <a:p>
            <a:r>
              <a:rPr lang="zh-CN" altLang="en-US"/>
              <a:t>ch01_绪论</a:t>
            </a:r>
            <a:endParaRPr lang="zh-CN" altLang="en-US"/>
          </a:p>
        </p:txBody>
      </p:sp>
      <p:sp>
        <p:nvSpPr>
          <p:cNvPr id="7" name="灯片编号占位符 6"/>
          <p:cNvSpPr>
            <a:spLocks noGrp="1"/>
          </p:cNvSpPr>
          <p:nvPr>
            <p:ph type="sldNum" sz="quarter" idx="12"/>
            <p:custDataLst>
              <p:tags r:id="rId3"/>
            </p:custDataLst>
          </p:nvPr>
        </p:nvSpPr>
        <p:spPr/>
        <p:txBody>
          <a:bodyPr/>
          <a:p>
            <a:fld id="{565CE74E-AB26-4998-AD42-012C4C1AD076}" type="slidenum">
              <a:rPr lang="zh-CN" altLang="en-US" smtClean="0"/>
            </a:fld>
            <a:endParaRPr lang="zh-CN" alt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35" y="0"/>
            <a:ext cx="12192635" cy="595630"/>
          </a:xfrm>
          <a:prstGeom prst="rect">
            <a:avLst/>
          </a:prstGeom>
          <a:solidFill>
            <a:schemeClr val="accent1">
              <a:lumMod val="20000"/>
              <a:lumOff val="80000"/>
              <a:alpha val="50000"/>
            </a:schemeClr>
          </a:solidFill>
        </p:spPr>
        <p:txBody>
          <a:bodyPr vert="horz" wrap="square" lIns="91440" tIns="82550" rIns="91440" bIns="82550" rtlCol="0" anchor="ctr">
            <a:no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24180" y="687070"/>
            <a:ext cx="11343005" cy="5897880"/>
          </a:xfrm>
          <a:prstGeom prst="rect">
            <a:avLst/>
          </a:prstGeom>
        </p:spPr>
        <p:txBody>
          <a:bodyPr vert="horz" lIns="91440" tIns="45720" rIns="91440" bIns="45720" rtlCol="0">
            <a:no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3"/>
          </p:nvPr>
        </p:nvSpPr>
        <p:spPr>
          <a:xfrm>
            <a:off x="0" y="6695365"/>
            <a:ext cx="4114800" cy="153670"/>
          </a:xfrm>
          <a:prstGeom prst="rect">
            <a:avLst/>
          </a:prstGeom>
        </p:spPr>
        <p:txBody>
          <a:bodyPr vert="horz" lIns="91440" tIns="0" rIns="91440" bIns="0" rtlCol="0" anchor="ctr">
            <a:spAutoFit/>
          </a:bodyPr>
          <a:lstStyle>
            <a:lvl1pPr algn="l">
              <a:defRPr sz="1000" b="1" i="0">
                <a:solidFill>
                  <a:schemeClr val="tx1">
                    <a:tint val="75000"/>
                  </a:schemeClr>
                </a:solidFill>
                <a:latin typeface="+mn-lt"/>
                <a:ea typeface="楷体" panose="02010609060101010101" charset="-122"/>
                <a:cs typeface="+mn-lt"/>
              </a:defRPr>
            </a:lvl1pPr>
          </a:lstStyle>
          <a:p>
            <a:r>
              <a:rPr lang="zh-CN" altLang="en-US"/>
              <a:t>ch01_绪论</a:t>
            </a:r>
            <a:endParaRPr lang="zh-CN" altLang="en-US"/>
          </a:p>
        </p:txBody>
      </p:sp>
      <p:sp>
        <p:nvSpPr>
          <p:cNvPr id="6" name="灯片编号占位符 5"/>
          <p:cNvSpPr>
            <a:spLocks noGrp="1"/>
          </p:cNvSpPr>
          <p:nvPr>
            <p:ph type="sldNum" sz="quarter" idx="4"/>
          </p:nvPr>
        </p:nvSpPr>
        <p:spPr>
          <a:xfrm>
            <a:off x="11461115" y="6696000"/>
            <a:ext cx="730885" cy="153670"/>
          </a:xfrm>
          <a:prstGeom prst="rect">
            <a:avLst/>
          </a:prstGeom>
        </p:spPr>
        <p:txBody>
          <a:bodyPr vert="horz" wrap="square" lIns="91440" tIns="0" rIns="91440" bIns="0" rtlCol="0" anchor="ctr">
            <a:spAutoFit/>
          </a:bodyPr>
          <a:lstStyle>
            <a:lvl1pPr algn="r">
              <a:defRPr sz="1000" b="1" i="1">
                <a:solidFill>
                  <a:schemeClr val="tx1">
                    <a:tint val="75000"/>
                  </a:schemeClr>
                </a:solidFill>
                <a:latin typeface="楷体" panose="02010609060101010101" charset="-122"/>
                <a:ea typeface="楷体" panose="02010609060101010101" charset="-122"/>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dt="0"/>
  <p:txStyles>
    <p:titleStyle>
      <a:lvl1pPr algn="ctr" defTabSz="914400" rtl="0" eaLnBrk="1" latinLnBrk="0" hangingPunct="1">
        <a:lnSpc>
          <a:spcPct val="100000"/>
        </a:lnSpc>
        <a:spcBef>
          <a:spcPts val="0"/>
        </a:spcBef>
        <a:spcAft>
          <a:spcPts val="0"/>
        </a:spcAft>
        <a:buNone/>
        <a:defRPr sz="2800" b="0" kern="1200">
          <a:solidFill>
            <a:schemeClr val="tx1"/>
          </a:solidFill>
          <a:latin typeface="+mj-lt"/>
          <a:ea typeface="+mj-ea"/>
          <a:cs typeface="+mj-cs"/>
        </a:defRPr>
      </a:lvl1pPr>
    </p:titleStyle>
    <p:bodyStyle>
      <a:lvl1pPr marL="360680" indent="-36068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2800" b="1" kern="1200">
          <a:solidFill>
            <a:srgbClr val="1F2DA8"/>
          </a:solidFill>
          <a:latin typeface="楷体" panose="02010609060101010101" charset="-122"/>
          <a:ea typeface="楷体" panose="02010609060101010101" charset="-122"/>
          <a:cs typeface="+mn-cs"/>
        </a:defRPr>
      </a:lvl1pPr>
      <a:lvl2pPr marL="685800" indent="-360045" algn="l" defTabSz="914400" rtl="0" eaLnBrk="1" fontAlgn="auto"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360045" algn="l" defTabSz="914400" rtl="0" eaLnBrk="1" fontAlgn="auto"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360045" algn="l" defTabSz="914400" rtl="0" eaLnBrk="1" fontAlgn="auto" latinLnBrk="0" hangingPunct="1">
        <a:lnSpc>
          <a:spcPct val="110000"/>
        </a:lnSpc>
        <a:spcBef>
          <a:spcPts val="0"/>
        </a:spcBef>
        <a:spcAft>
          <a:spcPts val="0"/>
        </a:spcAft>
        <a:buClr>
          <a:srgbClr val="C00000"/>
        </a:buClr>
        <a:buSzPct val="85000"/>
        <a:buFont typeface="Arial" panose="020B0604020202020204" pitchFamily="34" charset="0"/>
        <a:buChar char="‒"/>
        <a:defRPr sz="2400" b="1" kern="1200">
          <a:solidFill>
            <a:srgbClr val="1F2DA8"/>
          </a:solidFill>
          <a:latin typeface="楷体" panose="02010609060101010101" charset="-122"/>
          <a:ea typeface="楷体" panose="02010609060101010101" charset="-122"/>
          <a:cs typeface="+mn-cs"/>
        </a:defRPr>
      </a:lvl4pPr>
      <a:lvl5pPr marL="2057400" indent="-360045" algn="l" defTabSz="914400" rtl="0" eaLnBrk="1" fontAlgn="auto" latinLnBrk="0" hangingPunct="1">
        <a:lnSpc>
          <a:spcPct val="110000"/>
        </a:lnSpc>
        <a:spcBef>
          <a:spcPts val="0"/>
        </a:spcBef>
        <a:spcAft>
          <a:spcPts val="0"/>
        </a:spcAft>
        <a:buClr>
          <a:srgbClr val="C00000"/>
        </a:buClr>
        <a:buSzPct val="85000"/>
        <a:buFont typeface="Wingdings" panose="05000000000000000000" charset="0"/>
        <a:buChar char=""/>
        <a:defRPr sz="24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wmf"/><Relationship Id="rId1"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5.xml"/><Relationship Id="rId3" Type="http://schemas.openxmlformats.org/officeDocument/2006/relationships/oleObject" Target="../embeddings/oleObject3.bin"/><Relationship Id="rId2" Type="http://schemas.openxmlformats.org/officeDocument/2006/relationships/image" Target="../media/image12.png"/><Relationship Id="rId1"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6" name="文本框 5"/>
          <p:cNvSpPr txBox="1"/>
          <p:nvPr>
            <p:custDataLst>
              <p:tags r:id="rId2"/>
            </p:custDataLst>
          </p:nvPr>
        </p:nvSpPr>
        <p:spPr>
          <a:xfrm>
            <a:off x="4021200" y="5412105"/>
            <a:ext cx="4151630" cy="398780"/>
          </a:xfrm>
          <a:prstGeom prst="rect">
            <a:avLst/>
          </a:prstGeom>
          <a:noFill/>
        </p:spPr>
        <p:txBody>
          <a:bodyPr wrap="square" rtlCol="0" anchor="t">
            <a:spAutoFit/>
          </a:bodyPr>
          <a:p>
            <a:pPr algn="ctr"/>
            <a:r>
              <a:rPr kumimoji="1" lang="zh-CN" altLang="en-US" sz="20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（2025 春季）</a:t>
            </a:r>
            <a:endParaRPr kumimoji="1" lang="zh-CN" altLang="en-US" sz="20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endParaRPr>
          </a:p>
        </p:txBody>
      </p:sp>
      <p:sp>
        <p:nvSpPr>
          <p:cNvPr id="8" name="文本框 7"/>
          <p:cNvSpPr txBox="1"/>
          <p:nvPr>
            <p:custDataLst>
              <p:tags r:id="rId3"/>
            </p:custDataLst>
          </p:nvPr>
        </p:nvSpPr>
        <p:spPr>
          <a:xfrm>
            <a:off x="2484000" y="1924685"/>
            <a:ext cx="7228840" cy="1014730"/>
          </a:xfrm>
          <a:prstGeom prst="rect">
            <a:avLst/>
          </a:prstGeom>
          <a:noFill/>
        </p:spPr>
        <p:txBody>
          <a:bodyPr wrap="square" rtlCol="0">
            <a:spAutoFit/>
          </a:bodyPr>
          <a:p>
            <a:pPr algn="ctr"/>
            <a:r>
              <a:rPr lang="zh-CN" altLang="en-US"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第</a:t>
            </a:r>
            <a:r>
              <a:rPr lang="en-US" altLang="zh-CN"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1</a:t>
            </a:r>
            <a:r>
              <a:rPr lang="zh-CN" altLang="en-US"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章</a:t>
            </a:r>
            <a:r>
              <a:rPr lang="en-US" altLang="zh-CN"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  </a:t>
            </a:r>
            <a:r>
              <a:rPr lang="zh-CN" altLang="en-US"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绪论</a:t>
            </a:r>
            <a:endParaRPr lang="zh-CN" altLang="en-US"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4690110" y="3429000"/>
            <a:ext cx="2817495" cy="645160"/>
          </a:xfrm>
          <a:prstGeom prst="rect">
            <a:avLst/>
          </a:prstGeom>
          <a:noFill/>
        </p:spPr>
        <p:txBody>
          <a:bodyPr wrap="square" rtlCol="0">
            <a:spAutoFit/>
          </a:bodyPr>
          <a:p>
            <a:pPr algn="ctr"/>
            <a:r>
              <a:rPr lang="zh-CN" altLang="en-US" sz="3600" b="1">
                <a:solidFill>
                  <a:schemeClr val="bg1"/>
                </a:solidFill>
              </a:rPr>
              <a:t>（</a:t>
            </a:r>
            <a:r>
              <a:rPr lang="en-US" altLang="zh-CN" sz="3600" b="1">
                <a:solidFill>
                  <a:schemeClr val="bg1"/>
                </a:solidFill>
              </a:rPr>
              <a:t>3</a:t>
            </a:r>
            <a:r>
              <a:rPr lang="zh-CN" altLang="en-US" sz="3600" b="1">
                <a:solidFill>
                  <a:schemeClr val="bg1"/>
                </a:solidFill>
              </a:rPr>
              <a:t>）</a:t>
            </a:r>
            <a:endParaRPr lang="zh-CN" altLang="en-US" sz="3600" b="1">
              <a:solidFill>
                <a:schemeClr val="bg1"/>
              </a:solidFill>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Rectangle 2"/>
          <p:cNvSpPr>
            <a:spLocks noGrp="1"/>
          </p:cNvSpPr>
          <p:nvPr>
            <p:ph type="title"/>
          </p:nvPr>
        </p:nvSpPr>
        <p:spPr/>
        <p:txBody>
          <a:bodyPr wrap="square" tIns="0" bIns="0" anchor="ctr"/>
          <a:p>
            <a:pPr eaLnBrk="1" hangingPunct="1"/>
            <a:r>
              <a:rPr lang="zh-CN" altLang="en-US" dirty="0"/>
              <a:t>第</a:t>
            </a:r>
            <a:r>
              <a:rPr lang="en-US" altLang="zh-CN" dirty="0"/>
              <a:t> 1 </a:t>
            </a:r>
            <a:r>
              <a:rPr lang="zh-CN" altLang="en-US" dirty="0"/>
              <a:t>章  </a:t>
            </a:r>
            <a:r>
              <a:rPr lang="en-US" altLang="zh-CN" dirty="0"/>
              <a:t> </a:t>
            </a:r>
            <a:r>
              <a:rPr lang="zh-CN" altLang="en-US" dirty="0"/>
              <a:t>绪</a:t>
            </a:r>
            <a:r>
              <a:rPr lang="en-US" altLang="zh-CN" dirty="0"/>
              <a:t>  </a:t>
            </a:r>
            <a:r>
              <a:rPr lang="zh-CN" altLang="en-US" dirty="0"/>
              <a:t>论</a:t>
            </a:r>
            <a:endParaRPr lang="zh-CN" altLang="en-US" dirty="0"/>
          </a:p>
        </p:txBody>
      </p:sp>
      <p:sp>
        <p:nvSpPr>
          <p:cNvPr id="5124" name="Rectangle 3"/>
          <p:cNvSpPr>
            <a:spLocks noGrp="1"/>
          </p:cNvSpPr>
          <p:nvPr>
            <p:ph idx="1"/>
          </p:nvPr>
        </p:nvSpPr>
        <p:spPr/>
        <p:txBody>
          <a:bodyPr wrap="square" anchor="t"/>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1.1 数据库系统概述</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1.2 数据模型</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FF0000"/>
                </a:solidFill>
                <a:latin typeface="Arial" panose="020B0604020202020204" pitchFamily="34" charset="0"/>
                <a:cs typeface="Arial" panose="020B0604020202020204" pitchFamily="34" charset="0"/>
                <a:sym typeface="Wingdings 3" panose="05040102010807070707" pitchFamily="2" charset="2"/>
              </a:rPr>
              <a:t>1.3 数据库系统的结构</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1.4 数据库系统的组成</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rPr>
              <a:t>1.5 </a:t>
            </a: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小结</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hlinkClick r:id="rId1" action="ppaction://hlinksldjump"/>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1026"/>
          <p:cNvSpPr>
            <a:spLocks noGrp="1" noChangeArrowheads="1"/>
          </p:cNvSpPr>
          <p:nvPr>
            <p:ph type="title"/>
          </p:nvPr>
        </p:nvSpPr>
        <p:spPr/>
        <p:txBody>
          <a:bodyPr/>
          <a:lstStyle/>
          <a:p>
            <a:r>
              <a:rPr lang="en-US" altLang="zh-CN" dirty="0"/>
              <a:t>1.3  </a:t>
            </a:r>
            <a:r>
              <a:rPr lang="zh-CN" altLang="zh-CN" dirty="0"/>
              <a:t>数据库系统</a:t>
            </a:r>
            <a:r>
              <a:rPr lang="zh-CN" altLang="en-US" dirty="0"/>
              <a:t>的</a:t>
            </a:r>
            <a:r>
              <a:rPr lang="zh-CN" altLang="zh-CN" dirty="0"/>
              <a:t>结构</a:t>
            </a:r>
            <a:endParaRPr lang="zh-CN" altLang="en-US" dirty="0"/>
          </a:p>
        </p:txBody>
      </p:sp>
      <p:sp>
        <p:nvSpPr>
          <p:cNvPr id="107523" name="Rectangle 1027"/>
          <p:cNvSpPr>
            <a:spLocks noGrp="1" noChangeArrowheads="1"/>
          </p:cNvSpPr>
          <p:nvPr>
            <p:ph idx="1"/>
          </p:nvPr>
        </p:nvSpPr>
        <p:spPr/>
        <p:txBody>
          <a:bodyPr>
            <a:normAutofit/>
          </a:bodyPr>
          <a:lstStyle/>
          <a:p>
            <a:r>
              <a:rPr lang="zh-CN" altLang="en-US" dirty="0"/>
              <a:t>从数据库应用开发人员角度看</a:t>
            </a:r>
            <a:endParaRPr lang="en-US" altLang="zh-CN" dirty="0"/>
          </a:p>
          <a:p>
            <a:pPr lvl="1"/>
            <a:r>
              <a:rPr lang="zh-CN" altLang="en-US" dirty="0"/>
              <a:t>数据库系统通常采用三级模式结构，是数据库系统内部的系统结构</a:t>
            </a:r>
            <a:endParaRPr lang="zh-CN" altLang="en-US" dirty="0"/>
          </a:p>
          <a:p>
            <a:pPr lvl="1"/>
            <a:endParaRPr lang="zh-CN" altLang="en-US" dirty="0"/>
          </a:p>
          <a:p>
            <a:r>
              <a:rPr lang="zh-CN" altLang="en-US" dirty="0"/>
              <a:t> 从数据库最终用户角度看，数据库系统的结构分为</a:t>
            </a:r>
            <a:r>
              <a:rPr lang="en-US" altLang="zh-CN" dirty="0"/>
              <a:t>:</a:t>
            </a:r>
            <a:endParaRPr lang="en-US" altLang="zh-CN" dirty="0"/>
          </a:p>
          <a:p>
            <a:pPr lvl="1">
              <a:lnSpc>
                <a:spcPct val="110000"/>
              </a:lnSpc>
              <a:spcBef>
                <a:spcPts val="1000"/>
              </a:spcBef>
            </a:pPr>
            <a:r>
              <a:rPr lang="zh-CN" altLang="en-US" dirty="0"/>
              <a:t>单用户结构</a:t>
            </a:r>
            <a:endParaRPr lang="zh-CN" altLang="en-US" dirty="0"/>
          </a:p>
          <a:p>
            <a:pPr lvl="1">
              <a:lnSpc>
                <a:spcPct val="110000"/>
              </a:lnSpc>
              <a:spcBef>
                <a:spcPts val="1000"/>
              </a:spcBef>
            </a:pPr>
            <a:r>
              <a:rPr lang="zh-CN" altLang="en-US" dirty="0"/>
              <a:t>主从式结构</a:t>
            </a:r>
            <a:endParaRPr lang="zh-CN" altLang="en-US" dirty="0"/>
          </a:p>
          <a:p>
            <a:pPr lvl="1">
              <a:lnSpc>
                <a:spcPct val="110000"/>
              </a:lnSpc>
              <a:spcBef>
                <a:spcPts val="1000"/>
              </a:spcBef>
            </a:pPr>
            <a:r>
              <a:rPr lang="zh-CN" altLang="en-US" dirty="0">
                <a:solidFill>
                  <a:srgbClr val="FF0000"/>
                </a:solidFill>
              </a:rPr>
              <a:t>分布式结构</a:t>
            </a:r>
            <a:endParaRPr lang="zh-CN" altLang="en-US" dirty="0">
              <a:solidFill>
                <a:srgbClr val="FF0000"/>
              </a:solidFill>
            </a:endParaRPr>
          </a:p>
          <a:p>
            <a:pPr lvl="1">
              <a:lnSpc>
                <a:spcPct val="110000"/>
              </a:lnSpc>
              <a:spcBef>
                <a:spcPts val="1000"/>
              </a:spcBef>
            </a:pPr>
            <a:r>
              <a:rPr lang="zh-CN" altLang="en-US" dirty="0">
                <a:solidFill>
                  <a:srgbClr val="FF0000"/>
                </a:solidFill>
              </a:rPr>
              <a:t>客户</a:t>
            </a:r>
            <a:r>
              <a:rPr lang="en-US" altLang="zh-CN" dirty="0">
                <a:solidFill>
                  <a:srgbClr val="FF0000"/>
                </a:solidFill>
              </a:rPr>
              <a:t>-</a:t>
            </a:r>
            <a:r>
              <a:rPr lang="zh-CN" altLang="en-US" dirty="0">
                <a:solidFill>
                  <a:srgbClr val="FF0000"/>
                </a:solidFill>
              </a:rPr>
              <a:t>服务器</a:t>
            </a:r>
            <a:endParaRPr lang="zh-CN" altLang="en-US" dirty="0">
              <a:solidFill>
                <a:srgbClr val="FF0000"/>
              </a:solidFill>
            </a:endParaRPr>
          </a:p>
          <a:p>
            <a:pPr lvl="1">
              <a:lnSpc>
                <a:spcPct val="110000"/>
              </a:lnSpc>
              <a:spcBef>
                <a:spcPts val="1000"/>
              </a:spcBef>
            </a:pPr>
            <a:r>
              <a:rPr lang="zh-CN" altLang="en-US" dirty="0">
                <a:solidFill>
                  <a:srgbClr val="FF0000"/>
                </a:solidFill>
              </a:rPr>
              <a:t>浏览器</a:t>
            </a:r>
            <a:r>
              <a:rPr lang="en-US" altLang="zh-CN" dirty="0">
                <a:solidFill>
                  <a:srgbClr val="FF0000"/>
                </a:solidFill>
              </a:rPr>
              <a:t>-</a:t>
            </a:r>
            <a:r>
              <a:rPr lang="zh-CN" altLang="en-US" dirty="0">
                <a:solidFill>
                  <a:srgbClr val="FF0000"/>
                </a:solidFill>
              </a:rPr>
              <a:t>应用服务器／数据库服务器多层结构等</a:t>
            </a:r>
            <a:endParaRPr lang="zh-CN" altLang="en-US" dirty="0">
              <a:solidFill>
                <a:srgbClr val="FF0000"/>
              </a:solidFill>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r>
              <a:rPr lang="zh-CN" altLang="en-US" dirty="0"/>
              <a:t>模式和实例（</a:t>
            </a:r>
            <a:r>
              <a:rPr lang="en-US" altLang="zh-CN" dirty="0"/>
              <a:t>1</a:t>
            </a:r>
            <a:r>
              <a:rPr lang="zh-CN" altLang="en-US" dirty="0"/>
              <a:t>）</a:t>
            </a:r>
            <a:endParaRPr lang="zh-CN" altLang="en-US" dirty="0"/>
          </a:p>
        </p:txBody>
      </p:sp>
      <p:sp>
        <p:nvSpPr>
          <p:cNvPr id="110595" name="Rectangle 3"/>
          <p:cNvSpPr>
            <a:spLocks noGrp="1" noChangeArrowheads="1"/>
          </p:cNvSpPr>
          <p:nvPr>
            <p:ph idx="1"/>
          </p:nvPr>
        </p:nvSpPr>
        <p:spPr/>
        <p:txBody>
          <a:bodyPr>
            <a:normAutofit lnSpcReduction="10000"/>
          </a:bodyPr>
          <a:lstStyle/>
          <a:p>
            <a:r>
              <a:rPr lang="zh-CN" altLang="en-US" dirty="0">
                <a:solidFill>
                  <a:srgbClr val="FF0000"/>
                </a:solidFill>
              </a:rPr>
              <a:t>模式</a:t>
            </a:r>
            <a:r>
              <a:rPr lang="zh-CN" altLang="en-US" dirty="0"/>
              <a:t>（</a:t>
            </a:r>
            <a:r>
              <a:rPr lang="en-US" altLang="zh-CN" dirty="0"/>
              <a:t>Schema</a:t>
            </a:r>
            <a:r>
              <a:rPr lang="zh-CN" altLang="en-US" dirty="0"/>
              <a:t>）</a:t>
            </a:r>
            <a:endParaRPr lang="zh-CN" altLang="en-US" dirty="0"/>
          </a:p>
          <a:p>
            <a:pPr lvl="1"/>
            <a:r>
              <a:rPr lang="zh-CN" altLang="en-US" dirty="0"/>
              <a:t>数据库逻辑结构和特征的描述</a:t>
            </a:r>
            <a:endParaRPr lang="zh-CN" altLang="en-US" dirty="0"/>
          </a:p>
          <a:p>
            <a:pPr lvl="1"/>
            <a:r>
              <a:rPr lang="zh-CN" altLang="en-US" dirty="0"/>
              <a:t>是</a:t>
            </a:r>
            <a:r>
              <a:rPr lang="en-US" altLang="zh-CN" dirty="0">
                <a:latin typeface="Times New Roman" panose="02020603050405020304" pitchFamily="2" charset="0"/>
                <a:cs typeface="Times New Roman" panose="02020603050405020304" pitchFamily="2" charset="0"/>
              </a:rPr>
              <a:t>‘</a:t>
            </a:r>
            <a:r>
              <a:rPr lang="zh-CN" altLang="en-US" dirty="0">
                <a:solidFill>
                  <a:srgbClr val="FF0000"/>
                </a:solidFill>
                <a:latin typeface="Times New Roman" panose="02020603050405020304" pitchFamily="2" charset="0"/>
                <a:cs typeface="Times New Roman" panose="02020603050405020304" pitchFamily="2" charset="0"/>
              </a:rPr>
              <a:t>型</a:t>
            </a:r>
            <a:r>
              <a:rPr lang="en-US" altLang="zh-CN" dirty="0">
                <a:solidFill>
                  <a:srgbClr val="1F2DA8"/>
                </a:solidFill>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的描述，不涉及具体</a:t>
            </a:r>
            <a:r>
              <a:rPr lang="en-US" altLang="zh-CN" dirty="0">
                <a:latin typeface="Times New Roman" panose="02020603050405020304" pitchFamily="2" charset="0"/>
                <a:cs typeface="Times New Roman" panose="02020603050405020304" pitchFamily="2" charset="0"/>
              </a:rPr>
              <a:t>‘</a:t>
            </a:r>
            <a:r>
              <a:rPr lang="zh-CN" altLang="en-US" dirty="0">
                <a:solidFill>
                  <a:srgbClr val="FF0000"/>
                </a:solidFill>
                <a:latin typeface="Times New Roman" panose="02020603050405020304" pitchFamily="2" charset="0"/>
                <a:cs typeface="Times New Roman" panose="02020603050405020304" pitchFamily="2" charset="0"/>
              </a:rPr>
              <a:t>值</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，反映的</a:t>
            </a:r>
            <a:r>
              <a:rPr lang="zh-CN" altLang="en-US" dirty="0"/>
              <a:t>是数据的结构及其联系</a:t>
            </a:r>
            <a:endParaRPr lang="zh-CN" altLang="en-US" dirty="0"/>
          </a:p>
          <a:p>
            <a:pPr lvl="1"/>
            <a:r>
              <a:rPr lang="zh-CN" altLang="en-US" dirty="0"/>
              <a:t>模式是相对稳定的</a:t>
            </a:r>
            <a:endParaRPr lang="zh-CN" altLang="en-US" dirty="0"/>
          </a:p>
          <a:p>
            <a:pPr lvl="1"/>
            <a:endParaRPr lang="zh-CN" altLang="en-US" dirty="0"/>
          </a:p>
          <a:p>
            <a:pPr lvl="1"/>
            <a:endParaRPr lang="zh-CN" altLang="en-US" dirty="0"/>
          </a:p>
          <a:p>
            <a:pPr lvl="1"/>
            <a:endParaRPr lang="zh-CN" altLang="en-US" dirty="0"/>
          </a:p>
          <a:p>
            <a:pPr lvl="1"/>
            <a:endParaRPr lang="zh-CN" altLang="en-US" dirty="0"/>
          </a:p>
          <a:p>
            <a:pPr lvl="1"/>
            <a:endParaRPr lang="zh-CN" altLang="en-US" dirty="0"/>
          </a:p>
          <a:p>
            <a:r>
              <a:rPr lang="zh-CN" altLang="en-US" dirty="0">
                <a:solidFill>
                  <a:srgbClr val="FF0000"/>
                </a:solidFill>
              </a:rPr>
              <a:t>实例</a:t>
            </a:r>
            <a:r>
              <a:rPr lang="zh-CN" altLang="en-US" dirty="0"/>
              <a:t>（</a:t>
            </a:r>
            <a:r>
              <a:rPr lang="en-US" altLang="zh-CN" dirty="0"/>
              <a:t>Instance</a:t>
            </a:r>
            <a:r>
              <a:rPr lang="zh-CN" altLang="en-US" dirty="0"/>
              <a:t>）</a:t>
            </a:r>
            <a:endParaRPr lang="zh-CN" altLang="en-US" dirty="0"/>
          </a:p>
          <a:p>
            <a:pPr lvl="1"/>
            <a:r>
              <a:rPr lang="zh-CN" altLang="en-US" dirty="0"/>
              <a:t>反映数据库某一时刻的状态，</a:t>
            </a:r>
            <a:r>
              <a:rPr lang="zh-CN" altLang="en-US" dirty="0"/>
              <a:t>是模式的一个具体值</a:t>
            </a:r>
            <a:endParaRPr lang="zh-CN" altLang="en-US" dirty="0"/>
          </a:p>
          <a:p>
            <a:pPr lvl="1"/>
            <a:r>
              <a:rPr lang="zh-CN" altLang="en-US" dirty="0"/>
              <a:t>同一个模式可以有很多实例</a:t>
            </a:r>
            <a:endParaRPr lang="zh-CN" altLang="en-US" dirty="0"/>
          </a:p>
          <a:p>
            <a:pPr lvl="1"/>
            <a:r>
              <a:rPr lang="zh-CN" altLang="en-US" dirty="0"/>
              <a:t>实例随数据库中的数据的更新而变动</a:t>
            </a:r>
            <a:endParaRPr lang="zh-CN" altLang="en-US" dirty="0"/>
          </a:p>
        </p:txBody>
      </p:sp>
      <p:sp>
        <p:nvSpPr>
          <p:cNvPr id="3" name="文本框 2"/>
          <p:cNvSpPr txBox="1"/>
          <p:nvPr/>
        </p:nvSpPr>
        <p:spPr>
          <a:xfrm>
            <a:off x="423545" y="2720975"/>
            <a:ext cx="11343640" cy="1814830"/>
          </a:xfrm>
          <a:prstGeom prst="rect">
            <a:avLst/>
          </a:prstGeom>
          <a:noFill/>
        </p:spPr>
        <p:txBody>
          <a:bodyPr wrap="square" rtlCol="0">
            <a:spAutoFit/>
          </a:bodyPr>
          <a:p>
            <a:pPr marL="457200" indent="-457200">
              <a:buClr>
                <a:srgbClr val="C00000"/>
              </a:buClr>
              <a:buSzPct val="85000"/>
              <a:buFont typeface="Wingdings" panose="05000000000000000000" charset="0"/>
              <a:buChar char="q"/>
            </a:pPr>
            <a:r>
              <a:rPr lang="zh-CN" altLang="en-US" sz="2800" b="1">
                <a:solidFill>
                  <a:srgbClr val="1F2DA8"/>
                </a:solidFill>
                <a:latin typeface="楷体" panose="02010609060101010101" charset="-122"/>
                <a:ea typeface="楷体" panose="02010609060101010101" charset="-122"/>
                <a:cs typeface="楷体" panose="02010609060101010101" charset="-122"/>
              </a:rPr>
              <a:t>例如：</a:t>
            </a:r>
            <a:endParaRPr lang="zh-CN" altLang="en-US" sz="2800" b="1">
              <a:solidFill>
                <a:srgbClr val="1F2DA8"/>
              </a:solidFill>
              <a:latin typeface="楷体" panose="02010609060101010101" charset="-122"/>
              <a:ea typeface="楷体" panose="02010609060101010101" charset="-122"/>
              <a:cs typeface="楷体" panose="02010609060101010101" charset="-122"/>
            </a:endParaRPr>
          </a:p>
          <a:p>
            <a:pPr marL="914400" lvl="1" indent="-457200">
              <a:buClr>
                <a:srgbClr val="C00000"/>
              </a:buClr>
              <a:buSzPct val="85000"/>
              <a:buFont typeface="Wingdings" panose="05000000000000000000" charset="0"/>
              <a:buChar char="Ø"/>
            </a:pPr>
            <a:r>
              <a:rPr lang="zh-CN" altLang="en-US" sz="2800" b="1">
                <a:solidFill>
                  <a:srgbClr val="C00000"/>
                </a:solidFill>
                <a:latin typeface="楷体" panose="02010609060101010101" charset="-122"/>
                <a:ea typeface="楷体" panose="02010609060101010101" charset="-122"/>
                <a:cs typeface="楷体" panose="02010609060101010101" charset="-122"/>
              </a:rPr>
              <a:t>学生记</a:t>
            </a:r>
            <a:r>
              <a:rPr lang="zh-CN" altLang="en-US" sz="2800" b="1">
                <a:solidFill>
                  <a:srgbClr val="C00000"/>
                </a:solidFill>
                <a:latin typeface="Times New Roman" panose="02020603050405020304" pitchFamily="2" charset="0"/>
                <a:ea typeface="楷体" panose="02010609060101010101" charset="-122"/>
                <a:cs typeface="Times New Roman" panose="02020603050405020304" pitchFamily="2" charset="0"/>
              </a:rPr>
              <a:t>录的</a:t>
            </a:r>
            <a:r>
              <a:rPr lang="en-US" altLang="zh-CN" sz="2800" b="1">
                <a:solidFill>
                  <a:srgbClr val="C00000"/>
                </a:solidFill>
                <a:latin typeface="Times New Roman" panose="02020603050405020304" pitchFamily="2" charset="0"/>
                <a:ea typeface="楷体" panose="02010609060101010101" charset="-122"/>
                <a:cs typeface="Times New Roman" panose="02020603050405020304" pitchFamily="2" charset="0"/>
              </a:rPr>
              <a:t>‘</a:t>
            </a:r>
            <a:r>
              <a:rPr lang="zh-CN" altLang="en-US" sz="2800" b="1">
                <a:solidFill>
                  <a:srgbClr val="C00000"/>
                </a:solidFill>
                <a:latin typeface="Times New Roman" panose="02020603050405020304" pitchFamily="2" charset="0"/>
                <a:ea typeface="楷体" panose="02010609060101010101" charset="-122"/>
                <a:cs typeface="Times New Roman" panose="02020603050405020304" pitchFamily="2" charset="0"/>
              </a:rPr>
              <a:t>型</a:t>
            </a:r>
            <a:r>
              <a:rPr lang="en-US" altLang="zh-CN" sz="2800" b="1">
                <a:solidFill>
                  <a:srgbClr val="C00000"/>
                </a:solidFill>
                <a:latin typeface="Times New Roman" panose="02020603050405020304" pitchFamily="2" charset="0"/>
                <a:ea typeface="楷体" panose="02010609060101010101" charset="-122"/>
                <a:cs typeface="Times New Roman" panose="02020603050405020304" pitchFamily="2" charset="0"/>
              </a:rPr>
              <a:t>’</a:t>
            </a:r>
            <a:r>
              <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rPr>
              <a:t>：（学号，姓名，性别，系别，年龄，籍贯）</a:t>
            </a:r>
            <a:endPar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endParaRPr>
          </a:p>
          <a:p>
            <a:pPr marL="914400" lvl="1" indent="-457200">
              <a:buClr>
                <a:srgbClr val="C00000"/>
              </a:buClr>
              <a:buSzPct val="85000"/>
              <a:buFont typeface="Wingdings" panose="05000000000000000000" charset="0"/>
              <a:buChar char="Ø"/>
            </a:pPr>
            <a:r>
              <a:rPr lang="zh-CN" altLang="en-US" sz="2800" b="1">
                <a:solidFill>
                  <a:srgbClr val="C00000"/>
                </a:solidFill>
                <a:latin typeface="Times New Roman" panose="02020603050405020304" pitchFamily="2" charset="0"/>
                <a:ea typeface="楷体" panose="02010609060101010101" charset="-122"/>
                <a:cs typeface="Times New Roman" panose="02020603050405020304" pitchFamily="2" charset="0"/>
              </a:rPr>
              <a:t>一个学生记录的</a:t>
            </a:r>
            <a:r>
              <a:rPr lang="en-US" altLang="zh-CN" sz="2800" b="1">
                <a:solidFill>
                  <a:srgbClr val="C00000"/>
                </a:solidFill>
                <a:latin typeface="Times New Roman" panose="02020603050405020304" pitchFamily="2" charset="0"/>
                <a:ea typeface="楷体" panose="02010609060101010101" charset="-122"/>
                <a:cs typeface="Times New Roman" panose="02020603050405020304" pitchFamily="2" charset="0"/>
              </a:rPr>
              <a:t>‘</a:t>
            </a:r>
            <a:r>
              <a:rPr lang="zh-CN" altLang="en-US" sz="2800" b="1">
                <a:solidFill>
                  <a:srgbClr val="C00000"/>
                </a:solidFill>
                <a:latin typeface="Times New Roman" panose="02020603050405020304" pitchFamily="2" charset="0"/>
                <a:ea typeface="楷体" panose="02010609060101010101" charset="-122"/>
                <a:cs typeface="Times New Roman" panose="02020603050405020304" pitchFamily="2" charset="0"/>
              </a:rPr>
              <a:t>值</a:t>
            </a:r>
            <a:r>
              <a:rPr lang="en-US" altLang="zh-CN" sz="2800" b="1">
                <a:solidFill>
                  <a:srgbClr val="C00000"/>
                </a:solidFill>
                <a:latin typeface="Times New Roman" panose="02020603050405020304" pitchFamily="2" charset="0"/>
                <a:ea typeface="楷体" panose="02010609060101010101" charset="-122"/>
                <a:cs typeface="Times New Roman" panose="02020603050405020304" pitchFamily="2" charset="0"/>
              </a:rPr>
              <a:t>’</a:t>
            </a:r>
            <a:r>
              <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rPr>
              <a:t>：</a:t>
            </a:r>
            <a:endPar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endParaRPr>
          </a:p>
          <a:p>
            <a:pPr lvl="3" indent="0">
              <a:buClr>
                <a:srgbClr val="C00000"/>
              </a:buClr>
              <a:buSzPct val="85000"/>
              <a:buNone/>
            </a:pPr>
            <a:r>
              <a:rPr lang="en-US" altLang="zh-CN" sz="2800" b="1">
                <a:solidFill>
                  <a:srgbClr val="1F2DA8"/>
                </a:solidFill>
                <a:latin typeface="Times New Roman" panose="02020603050405020304" pitchFamily="2" charset="0"/>
                <a:ea typeface="楷体" panose="02010609060101010101" charset="-122"/>
                <a:cs typeface="Times New Roman" panose="02020603050405020304" pitchFamily="2" charset="0"/>
              </a:rPr>
              <a:t>(201315130, </a:t>
            </a:r>
            <a:r>
              <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rPr>
              <a:t>李明</a:t>
            </a:r>
            <a:r>
              <a:rPr lang="en-US" altLang="zh-CN" sz="2800" b="1">
                <a:solidFill>
                  <a:srgbClr val="1F2DA8"/>
                </a:solidFill>
                <a:latin typeface="Times New Roman" panose="02020603050405020304" pitchFamily="2" charset="0"/>
                <a:ea typeface="楷体" panose="02010609060101010101" charset="-122"/>
                <a:cs typeface="Times New Roman" panose="02020603050405020304" pitchFamily="2" charset="0"/>
              </a:rPr>
              <a:t>, </a:t>
            </a:r>
            <a:r>
              <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rPr>
              <a:t>男</a:t>
            </a:r>
            <a:r>
              <a:rPr lang="en-US" altLang="zh-CN" sz="2800" b="1">
                <a:solidFill>
                  <a:srgbClr val="1F2DA8"/>
                </a:solidFill>
                <a:latin typeface="Times New Roman" panose="02020603050405020304" pitchFamily="2" charset="0"/>
                <a:ea typeface="楷体" panose="02010609060101010101" charset="-122"/>
                <a:cs typeface="Times New Roman" panose="02020603050405020304" pitchFamily="2" charset="0"/>
              </a:rPr>
              <a:t>, </a:t>
            </a:r>
            <a:r>
              <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rPr>
              <a:t>计算机系</a:t>
            </a:r>
            <a:r>
              <a:rPr lang="en-US" altLang="zh-CN" sz="2800" b="1">
                <a:solidFill>
                  <a:srgbClr val="1F2DA8"/>
                </a:solidFill>
                <a:latin typeface="Times New Roman" panose="02020603050405020304" pitchFamily="2" charset="0"/>
                <a:ea typeface="楷体" panose="02010609060101010101" charset="-122"/>
                <a:cs typeface="Times New Roman" panose="02020603050405020304" pitchFamily="2" charset="0"/>
              </a:rPr>
              <a:t>, 19, </a:t>
            </a:r>
            <a:r>
              <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rPr>
              <a:t>江苏省南京市</a:t>
            </a:r>
            <a:r>
              <a:rPr lang="en-US" altLang="zh-CN" sz="2800" b="1">
                <a:solidFill>
                  <a:srgbClr val="1F2DA8"/>
                </a:solidFill>
                <a:latin typeface="Times New Roman" panose="02020603050405020304" pitchFamily="2" charset="0"/>
                <a:ea typeface="楷体" panose="02010609060101010101" charset="-122"/>
                <a:cs typeface="Times New Roman" panose="02020603050405020304" pitchFamily="2" charset="0"/>
              </a:rPr>
              <a:t>)</a:t>
            </a:r>
            <a:endParaRPr lang="en-US" altLang="zh-CN" sz="2800" b="1">
              <a:solidFill>
                <a:srgbClr val="1F2DA8"/>
              </a:solidFill>
              <a:latin typeface="Times New Roman" panose="02020603050405020304" pitchFamily="2" charset="0"/>
              <a:ea typeface="楷体" panose="02010609060101010101" charset="-122"/>
              <a:cs typeface="Times New Roman" panose="02020603050405020304" pitchFamily="2"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0595">
                                            <p:txEl>
                                              <p:pRg st="9" end="9"/>
                                            </p:txEl>
                                          </p:spTgt>
                                        </p:tgtEl>
                                        <p:attrNameLst>
                                          <p:attrName>style.visibility</p:attrName>
                                        </p:attrNameLst>
                                      </p:cBhvr>
                                      <p:to>
                                        <p:strVal val="visible"/>
                                      </p:to>
                                    </p:set>
                                    <p:anim calcmode="lin" valueType="num">
                                      <p:cBhvr additive="base">
                                        <p:cTn id="12" dur="500" fill="hold"/>
                                        <p:tgtEl>
                                          <p:spTgt spid="110595">
                                            <p:txEl>
                                              <p:pRg st="9" end="9"/>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10595">
                                            <p:txEl>
                                              <p:pRg st="9" end="9"/>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10595">
                                            <p:txEl>
                                              <p:pRg st="10" end="10"/>
                                            </p:txEl>
                                          </p:spTgt>
                                        </p:tgtEl>
                                        <p:attrNameLst>
                                          <p:attrName>style.visibility</p:attrName>
                                        </p:attrNameLst>
                                      </p:cBhvr>
                                      <p:to>
                                        <p:strVal val="visible"/>
                                      </p:to>
                                    </p:set>
                                    <p:anim calcmode="lin" valueType="num">
                                      <p:cBhvr additive="base">
                                        <p:cTn id="16" dur="500" fill="hold"/>
                                        <p:tgtEl>
                                          <p:spTgt spid="110595">
                                            <p:txEl>
                                              <p:pRg st="10" end="1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110595">
                                            <p:txEl>
                                              <p:pRg st="10" end="10"/>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10595">
                                            <p:txEl>
                                              <p:pRg st="11" end="11"/>
                                            </p:txEl>
                                          </p:spTgt>
                                        </p:tgtEl>
                                        <p:attrNameLst>
                                          <p:attrName>style.visibility</p:attrName>
                                        </p:attrNameLst>
                                      </p:cBhvr>
                                      <p:to>
                                        <p:strVal val="visible"/>
                                      </p:to>
                                    </p:set>
                                    <p:anim calcmode="lin" valueType="num">
                                      <p:cBhvr additive="base">
                                        <p:cTn id="20" dur="500" fill="hold"/>
                                        <p:tgtEl>
                                          <p:spTgt spid="110595">
                                            <p:txEl>
                                              <p:pRg st="11" end="1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10595">
                                            <p:txEl>
                                              <p:pRg st="11" end="11"/>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10595">
                                            <p:txEl>
                                              <p:pRg st="12" end="12"/>
                                            </p:txEl>
                                          </p:spTgt>
                                        </p:tgtEl>
                                        <p:attrNameLst>
                                          <p:attrName>style.visibility</p:attrName>
                                        </p:attrNameLst>
                                      </p:cBhvr>
                                      <p:to>
                                        <p:strVal val="visible"/>
                                      </p:to>
                                    </p:set>
                                    <p:anim calcmode="lin" valueType="num">
                                      <p:cBhvr additive="base">
                                        <p:cTn id="24" dur="500" fill="hold"/>
                                        <p:tgtEl>
                                          <p:spTgt spid="110595">
                                            <p:txEl>
                                              <p:pRg st="12" end="1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10595">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r>
              <a:rPr lang="zh-CN" altLang="en-US" dirty="0"/>
              <a:t>模式和实例（</a:t>
            </a:r>
            <a:r>
              <a:rPr lang="en-US" altLang="zh-CN" dirty="0"/>
              <a:t>2</a:t>
            </a:r>
            <a:r>
              <a:rPr lang="zh-CN" altLang="en-US" dirty="0"/>
              <a:t>）</a:t>
            </a:r>
            <a:endParaRPr lang="zh-CN" altLang="en-US" dirty="0"/>
          </a:p>
        </p:txBody>
      </p:sp>
      <p:sp>
        <p:nvSpPr>
          <p:cNvPr id="111619" name="Rectangle 3"/>
          <p:cNvSpPr>
            <a:spLocks noGrp="1" noChangeArrowheads="1"/>
          </p:cNvSpPr>
          <p:nvPr>
            <p:ph idx="1"/>
          </p:nvPr>
        </p:nvSpPr>
        <p:spPr/>
        <p:txBody>
          <a:bodyPr>
            <a:normAutofit/>
          </a:bodyPr>
          <a:lstStyle/>
          <a:p>
            <a:pPr>
              <a:lnSpc>
                <a:spcPct val="100000"/>
              </a:lnSpc>
            </a:pPr>
            <a:r>
              <a:rPr lang="zh-CN" altLang="en-US" dirty="0"/>
              <a:t>例如：在学生选课数据库模式中，包含学生、课程和选课记录</a:t>
            </a:r>
            <a:endParaRPr lang="zh-CN" altLang="en-US" dirty="0"/>
          </a:p>
          <a:p>
            <a:pPr lvl="1">
              <a:lnSpc>
                <a:spcPct val="100000"/>
              </a:lnSpc>
              <a:spcBef>
                <a:spcPts val="1000"/>
              </a:spcBef>
            </a:pPr>
            <a:r>
              <a:rPr lang="zh-CN" altLang="en-US" dirty="0"/>
              <a:t> </a:t>
            </a:r>
            <a:r>
              <a:rPr lang="en-US" altLang="zh-CN" dirty="0"/>
              <a:t>2012</a:t>
            </a:r>
            <a:r>
              <a:rPr lang="zh-CN" altLang="en-US" dirty="0"/>
              <a:t>年的一个学生数据库实例，包含：</a:t>
            </a:r>
            <a:endParaRPr lang="zh-CN" altLang="en-US" dirty="0"/>
          </a:p>
          <a:p>
            <a:pPr lvl="2">
              <a:lnSpc>
                <a:spcPct val="100000"/>
              </a:lnSpc>
            </a:pPr>
            <a:endParaRPr lang="zh-CN" altLang="en-US" dirty="0"/>
          </a:p>
          <a:p>
            <a:pPr lvl="2">
              <a:lnSpc>
                <a:spcPct val="100000"/>
              </a:lnSpc>
            </a:pPr>
            <a:endParaRPr lang="zh-CN" altLang="en-US" dirty="0"/>
          </a:p>
          <a:p>
            <a:pPr marL="782955" lvl="2" indent="0">
              <a:lnSpc>
                <a:spcPct val="100000"/>
              </a:lnSpc>
              <a:buNone/>
            </a:pPr>
            <a:r>
              <a:rPr lang="zh-CN" altLang="en-US" dirty="0"/>
              <a:t> </a:t>
            </a:r>
            <a:endParaRPr lang="en-US" altLang="zh-CN" dirty="0"/>
          </a:p>
          <a:p>
            <a:pPr lvl="1">
              <a:lnSpc>
                <a:spcPct val="100000"/>
              </a:lnSpc>
              <a:spcBef>
                <a:spcPts val="3000"/>
              </a:spcBef>
            </a:pPr>
            <a:r>
              <a:rPr lang="zh-CN" altLang="en-US" dirty="0"/>
              <a:t> </a:t>
            </a:r>
            <a:r>
              <a:rPr lang="en-US" altLang="zh-CN" dirty="0"/>
              <a:t>2013</a:t>
            </a:r>
            <a:r>
              <a:rPr lang="zh-CN" altLang="en-US" dirty="0"/>
              <a:t>年的一个学生数据库实例，包含：</a:t>
            </a:r>
            <a:endParaRPr lang="zh-CN" altLang="en-US" dirty="0"/>
          </a:p>
          <a:p>
            <a:pPr lvl="2">
              <a:lnSpc>
                <a:spcPct val="100000"/>
              </a:lnSpc>
            </a:pPr>
            <a:endParaRPr lang="zh-CN" altLang="en-US" dirty="0"/>
          </a:p>
          <a:p>
            <a:pPr lvl="2">
              <a:lnSpc>
                <a:spcPct val="100000"/>
              </a:lnSpc>
            </a:pPr>
            <a:endParaRPr lang="zh-CN" altLang="en-US" dirty="0"/>
          </a:p>
          <a:p>
            <a:pPr marL="782955" lvl="2" indent="0">
              <a:lnSpc>
                <a:spcPct val="100000"/>
              </a:lnSpc>
              <a:buNone/>
            </a:pPr>
            <a:r>
              <a:rPr lang="zh-CN" altLang="en-US" dirty="0"/>
              <a:t> </a:t>
            </a:r>
            <a:endParaRPr lang="zh-CN" altLang="en-US" dirty="0"/>
          </a:p>
          <a:p>
            <a:pPr lvl="1">
              <a:lnSpc>
                <a:spcPct val="100000"/>
              </a:lnSpc>
              <a:spcBef>
                <a:spcPts val="4000"/>
              </a:spcBef>
            </a:pPr>
            <a:r>
              <a:rPr lang="en-US" altLang="zh-CN" dirty="0"/>
              <a:t>2012</a:t>
            </a:r>
            <a:r>
              <a:rPr lang="zh-CN" altLang="en-US" dirty="0"/>
              <a:t>年度学生数据库模式对应的实例与</a:t>
            </a:r>
            <a:r>
              <a:rPr lang="en-US" altLang="zh-CN" dirty="0"/>
              <a:t>2013</a:t>
            </a:r>
            <a:r>
              <a:rPr lang="zh-CN" altLang="en-US" dirty="0"/>
              <a:t>年度学生数据库模式对应的实例是不同的 </a:t>
            </a:r>
            <a:endParaRPr lang="zh-CN" altLang="en-US" dirty="0"/>
          </a:p>
        </p:txBody>
      </p:sp>
      <p:sp>
        <p:nvSpPr>
          <p:cNvPr id="2" name="矩形 1"/>
          <p:cNvSpPr/>
          <p:nvPr/>
        </p:nvSpPr>
        <p:spPr>
          <a:xfrm>
            <a:off x="1332865" y="3834765"/>
            <a:ext cx="9473565" cy="1383665"/>
          </a:xfrm>
          <a:prstGeom prst="rect">
            <a:avLst/>
          </a:prstGeom>
          <a:solidFill>
            <a:schemeClr val="accent4">
              <a:lumMod val="20000"/>
              <a:lumOff val="80000"/>
              <a:alpha val="50000"/>
            </a:schemeClr>
          </a:solidFill>
          <a:ln w="12700">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lvl="1" indent="-457200">
              <a:lnSpc>
                <a:spcPct val="100000"/>
              </a:lnSpc>
              <a:buFont typeface="Arial" panose="020B0604020202020204" pitchFamily="34" charset="0"/>
              <a:buChar char="•"/>
            </a:pPr>
            <a:r>
              <a:rPr lang="en-US" altLang="zh-CN" sz="2800" b="1" dirty="0">
                <a:solidFill>
                  <a:srgbClr val="1F2DA8"/>
                </a:solidFill>
                <a:latin typeface="楷体" panose="02010609060101010101" charset="-122"/>
                <a:ea typeface="楷体" panose="02010609060101010101" charset="-122"/>
                <a:cs typeface="楷体" panose="02010609060101010101" charset="-122"/>
                <a:sym typeface="+mn-ea"/>
              </a:rPr>
              <a:t>2013</a:t>
            </a:r>
            <a:r>
              <a:rPr lang="zh-CN" altLang="en-US" sz="2800" b="1" dirty="0">
                <a:solidFill>
                  <a:srgbClr val="1F2DA8"/>
                </a:solidFill>
                <a:latin typeface="楷体" panose="02010609060101010101" charset="-122"/>
                <a:ea typeface="楷体" panose="02010609060101010101" charset="-122"/>
                <a:cs typeface="楷体" panose="02010609060101010101" charset="-122"/>
                <a:sym typeface="+mn-ea"/>
              </a:rPr>
              <a:t>年学校中所有学生的记录</a:t>
            </a:r>
            <a:endParaRPr lang="zh-CN" altLang="en-US" sz="2800" b="1" dirty="0">
              <a:solidFill>
                <a:srgbClr val="1F2DA8"/>
              </a:solidFill>
              <a:latin typeface="楷体" panose="02010609060101010101" charset="-122"/>
              <a:ea typeface="楷体" panose="02010609060101010101" charset="-122"/>
              <a:cs typeface="楷体" panose="02010609060101010101" charset="-122"/>
            </a:endParaRPr>
          </a:p>
          <a:p>
            <a:pPr lvl="1" indent="-457200">
              <a:lnSpc>
                <a:spcPct val="100000"/>
              </a:lnSpc>
              <a:buFont typeface="Arial" panose="020B0604020202020204" pitchFamily="34" charset="0"/>
              <a:buChar char="•"/>
            </a:pPr>
            <a:r>
              <a:rPr lang="en-US" altLang="zh-CN" sz="2800" b="1" dirty="0">
                <a:solidFill>
                  <a:srgbClr val="1F2DA8"/>
                </a:solidFill>
                <a:latin typeface="楷体" panose="02010609060101010101" charset="-122"/>
                <a:ea typeface="楷体" panose="02010609060101010101" charset="-122"/>
                <a:cs typeface="楷体" panose="02010609060101010101" charset="-122"/>
                <a:sym typeface="+mn-ea"/>
              </a:rPr>
              <a:t>2013</a:t>
            </a:r>
            <a:r>
              <a:rPr lang="zh-CN" altLang="en-US" sz="2800" b="1" dirty="0">
                <a:solidFill>
                  <a:srgbClr val="1F2DA8"/>
                </a:solidFill>
                <a:latin typeface="楷体" panose="02010609060101010101" charset="-122"/>
                <a:ea typeface="楷体" panose="02010609060101010101" charset="-122"/>
                <a:cs typeface="楷体" panose="02010609060101010101" charset="-122"/>
                <a:sym typeface="+mn-ea"/>
              </a:rPr>
              <a:t>年学校开设的所有课程的记录</a:t>
            </a:r>
            <a:endParaRPr lang="zh-CN" altLang="en-US" sz="2800" b="1" dirty="0">
              <a:solidFill>
                <a:srgbClr val="1F2DA8"/>
              </a:solidFill>
              <a:latin typeface="楷体" panose="02010609060101010101" charset="-122"/>
              <a:ea typeface="楷体" panose="02010609060101010101" charset="-122"/>
              <a:cs typeface="楷体" panose="02010609060101010101" charset="-122"/>
            </a:endParaRPr>
          </a:p>
          <a:p>
            <a:pPr lvl="1" indent="-457200">
              <a:lnSpc>
                <a:spcPct val="100000"/>
              </a:lnSpc>
              <a:buFont typeface="Arial" panose="020B0604020202020204" pitchFamily="34" charset="0"/>
              <a:buChar char="•"/>
            </a:pPr>
            <a:r>
              <a:rPr lang="en-US" altLang="zh-CN" sz="2800" b="1" dirty="0">
                <a:solidFill>
                  <a:srgbClr val="1F2DA8"/>
                </a:solidFill>
                <a:latin typeface="楷体" panose="02010609060101010101" charset="-122"/>
                <a:ea typeface="楷体" panose="02010609060101010101" charset="-122"/>
                <a:cs typeface="楷体" panose="02010609060101010101" charset="-122"/>
                <a:sym typeface="+mn-ea"/>
              </a:rPr>
              <a:t>2013</a:t>
            </a:r>
            <a:r>
              <a:rPr lang="zh-CN" altLang="en-US" sz="2800" b="1" dirty="0">
                <a:solidFill>
                  <a:srgbClr val="1F2DA8"/>
                </a:solidFill>
                <a:latin typeface="楷体" panose="02010609060101010101" charset="-122"/>
                <a:ea typeface="楷体" panose="02010609060101010101" charset="-122"/>
                <a:cs typeface="楷体" panose="02010609060101010101" charset="-122"/>
                <a:sym typeface="+mn-ea"/>
              </a:rPr>
              <a:t>年所有学生选课的记录</a:t>
            </a:r>
            <a:endParaRPr lang="zh-CN" altLang="en-US" sz="2800" b="1" dirty="0">
              <a:solidFill>
                <a:srgbClr val="1F2DA8"/>
              </a:solidFill>
              <a:latin typeface="楷体" panose="02010609060101010101" charset="-122"/>
              <a:ea typeface="楷体" panose="02010609060101010101" charset="-122"/>
              <a:cs typeface="楷体" panose="02010609060101010101" charset="-122"/>
              <a:sym typeface="+mn-ea"/>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ch01_绪论</a:t>
            </a:r>
            <a:endParaRPr lang="zh-CN" altLang="en-US"/>
          </a:p>
        </p:txBody>
      </p:sp>
      <p:sp>
        <p:nvSpPr>
          <p:cNvPr id="6" name="矩形 5"/>
          <p:cNvSpPr/>
          <p:nvPr/>
        </p:nvSpPr>
        <p:spPr>
          <a:xfrm>
            <a:off x="1332865" y="1789430"/>
            <a:ext cx="9473565" cy="1383665"/>
          </a:xfrm>
          <a:prstGeom prst="rect">
            <a:avLst/>
          </a:prstGeom>
          <a:solidFill>
            <a:schemeClr val="accent4">
              <a:lumMod val="20000"/>
              <a:lumOff val="80000"/>
              <a:alpha val="50000"/>
            </a:schemeClr>
          </a:solidFill>
          <a:ln w="12700">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lvl="1" indent="-457200">
              <a:lnSpc>
                <a:spcPct val="100000"/>
              </a:lnSpc>
              <a:buFont typeface="Arial" panose="020B0604020202020204" pitchFamily="34" charset="0"/>
              <a:buChar char="•"/>
            </a:pPr>
            <a:r>
              <a:rPr lang="en-US" altLang="zh-CN" sz="2800" b="1" dirty="0">
                <a:solidFill>
                  <a:srgbClr val="1F2DA8"/>
                </a:solidFill>
                <a:latin typeface="楷体" panose="02010609060101010101" charset="-122"/>
                <a:ea typeface="楷体" panose="02010609060101010101" charset="-122"/>
                <a:cs typeface="楷体" panose="02010609060101010101" charset="-122"/>
                <a:sym typeface="+mn-ea"/>
              </a:rPr>
              <a:t>2012</a:t>
            </a:r>
            <a:r>
              <a:rPr lang="zh-CN" altLang="en-US" sz="2800" b="1" dirty="0">
                <a:solidFill>
                  <a:srgbClr val="1F2DA8"/>
                </a:solidFill>
                <a:latin typeface="楷体" panose="02010609060101010101" charset="-122"/>
                <a:ea typeface="楷体" panose="02010609060101010101" charset="-122"/>
                <a:cs typeface="楷体" panose="02010609060101010101" charset="-122"/>
                <a:sym typeface="+mn-ea"/>
              </a:rPr>
              <a:t>年学校中所有学生的记录</a:t>
            </a:r>
            <a:endParaRPr lang="zh-CN" altLang="en-US" sz="2800" b="1" dirty="0">
              <a:solidFill>
                <a:srgbClr val="1F2DA8"/>
              </a:solidFill>
              <a:latin typeface="楷体" panose="02010609060101010101" charset="-122"/>
              <a:ea typeface="楷体" panose="02010609060101010101" charset="-122"/>
              <a:cs typeface="楷体" panose="02010609060101010101" charset="-122"/>
            </a:endParaRPr>
          </a:p>
          <a:p>
            <a:pPr lvl="1" indent="-457200">
              <a:lnSpc>
                <a:spcPct val="100000"/>
              </a:lnSpc>
              <a:buFont typeface="Arial" panose="020B0604020202020204" pitchFamily="34" charset="0"/>
              <a:buChar char="•"/>
            </a:pPr>
            <a:r>
              <a:rPr lang="en-US" altLang="zh-CN" sz="2800" b="1" dirty="0">
                <a:solidFill>
                  <a:srgbClr val="1F2DA8"/>
                </a:solidFill>
                <a:latin typeface="楷体" panose="02010609060101010101" charset="-122"/>
                <a:ea typeface="楷体" panose="02010609060101010101" charset="-122"/>
                <a:cs typeface="楷体" panose="02010609060101010101" charset="-122"/>
                <a:sym typeface="+mn-ea"/>
              </a:rPr>
              <a:t>2012</a:t>
            </a:r>
            <a:r>
              <a:rPr lang="zh-CN" altLang="en-US" sz="2800" b="1" dirty="0">
                <a:solidFill>
                  <a:srgbClr val="1F2DA8"/>
                </a:solidFill>
                <a:latin typeface="楷体" panose="02010609060101010101" charset="-122"/>
                <a:ea typeface="楷体" panose="02010609060101010101" charset="-122"/>
                <a:cs typeface="楷体" panose="02010609060101010101" charset="-122"/>
                <a:sym typeface="+mn-ea"/>
              </a:rPr>
              <a:t>年学校开设的所有课程的记录</a:t>
            </a:r>
            <a:endParaRPr lang="zh-CN" altLang="en-US" sz="2800" b="1" dirty="0">
              <a:solidFill>
                <a:srgbClr val="1F2DA8"/>
              </a:solidFill>
              <a:latin typeface="楷体" panose="02010609060101010101" charset="-122"/>
              <a:ea typeface="楷体" panose="02010609060101010101" charset="-122"/>
              <a:cs typeface="楷体" panose="02010609060101010101" charset="-122"/>
            </a:endParaRPr>
          </a:p>
          <a:p>
            <a:pPr lvl="1" indent="-457200">
              <a:lnSpc>
                <a:spcPct val="100000"/>
              </a:lnSpc>
              <a:buFont typeface="Arial" panose="020B0604020202020204" pitchFamily="34" charset="0"/>
              <a:buChar char="•"/>
            </a:pPr>
            <a:r>
              <a:rPr lang="en-US" altLang="zh-CN" sz="2800" b="1" dirty="0">
                <a:solidFill>
                  <a:srgbClr val="1F2DA8"/>
                </a:solidFill>
                <a:latin typeface="楷体" panose="02010609060101010101" charset="-122"/>
                <a:ea typeface="楷体" panose="02010609060101010101" charset="-122"/>
                <a:cs typeface="楷体" panose="02010609060101010101" charset="-122"/>
                <a:sym typeface="+mn-ea"/>
              </a:rPr>
              <a:t>2012</a:t>
            </a:r>
            <a:r>
              <a:rPr lang="zh-CN" altLang="en-US" sz="2800" b="1" dirty="0">
                <a:solidFill>
                  <a:srgbClr val="1F2DA8"/>
                </a:solidFill>
                <a:latin typeface="楷体" panose="02010609060101010101" charset="-122"/>
                <a:ea typeface="楷体" panose="02010609060101010101" charset="-122"/>
                <a:cs typeface="楷体" panose="02010609060101010101" charset="-122"/>
                <a:sym typeface="+mn-ea"/>
              </a:rPr>
              <a:t>年所有学生选课的记录</a:t>
            </a:r>
            <a:endParaRPr lang="zh-CN" altLang="en-US" sz="2800" b="1" dirty="0">
              <a:solidFill>
                <a:srgbClr val="1F2DA8"/>
              </a:solidFill>
              <a:latin typeface="楷体" panose="02010609060101010101" charset="-122"/>
              <a:ea typeface="楷体" panose="02010609060101010101" charset="-122"/>
              <a:cs typeface="楷体" panose="02010609060101010101"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055" descr="databas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59560" y="814705"/>
            <a:ext cx="9072880" cy="549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6" name="Rectangle 2"/>
          <p:cNvSpPr>
            <a:spLocks noGrp="1" noChangeArrowheads="1"/>
          </p:cNvSpPr>
          <p:nvPr>
            <p:ph type="title"/>
          </p:nvPr>
        </p:nvSpPr>
        <p:spPr/>
        <p:txBody>
          <a:bodyPr/>
          <a:lstStyle/>
          <a:p>
            <a:r>
              <a:rPr lang="zh-CN" altLang="en-US" dirty="0"/>
              <a:t>图</a:t>
            </a:r>
            <a:r>
              <a:rPr lang="en-US" altLang="zh-CN" dirty="0"/>
              <a:t>1.16  </a:t>
            </a:r>
            <a:r>
              <a:rPr lang="zh-CN" altLang="en-US" dirty="0"/>
              <a:t>数据库系统的三级模式结构</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zh-CN" altLang="en-US" dirty="0"/>
              <a:t>模式（</a:t>
            </a:r>
            <a:r>
              <a:rPr lang="en-US" altLang="zh-CN" dirty="0"/>
              <a:t>Schema</a:t>
            </a:r>
            <a:r>
              <a:rPr lang="zh-CN" altLang="en-US" dirty="0"/>
              <a:t>）</a:t>
            </a:r>
            <a:endParaRPr lang="zh-CN" altLang="en-US" dirty="0"/>
          </a:p>
        </p:txBody>
      </p:sp>
      <p:sp>
        <p:nvSpPr>
          <p:cNvPr id="115715" name="Rectangle 3"/>
          <p:cNvSpPr>
            <a:spLocks noGrp="1" noChangeArrowheads="1"/>
          </p:cNvSpPr>
          <p:nvPr>
            <p:ph idx="1"/>
          </p:nvPr>
        </p:nvSpPr>
        <p:spPr/>
        <p:txBody>
          <a:bodyPr>
            <a:normAutofit/>
          </a:bodyPr>
          <a:lstStyle/>
          <a:p>
            <a:r>
              <a:rPr lang="zh-CN" altLang="en-US" dirty="0">
                <a:solidFill>
                  <a:srgbClr val="FF0000"/>
                </a:solidFill>
              </a:rPr>
              <a:t>模式</a:t>
            </a:r>
            <a:r>
              <a:rPr lang="zh-CN" altLang="en-US" dirty="0"/>
              <a:t>（也称</a:t>
            </a:r>
            <a:r>
              <a:rPr lang="en-US" altLang="zh-CN" dirty="0">
                <a:latin typeface="Times New Roman" panose="02020603050405020304" pitchFamily="2" charset="0"/>
                <a:cs typeface="Times New Roman" panose="02020603050405020304" pitchFamily="2" charset="0"/>
              </a:rPr>
              <a:t>‘</a:t>
            </a:r>
            <a:r>
              <a:rPr lang="zh-CN" altLang="en-US" dirty="0">
                <a:solidFill>
                  <a:srgbClr val="FF0000"/>
                </a:solidFill>
                <a:latin typeface="Times New Roman" panose="02020603050405020304" pitchFamily="2" charset="0"/>
                <a:cs typeface="Times New Roman" panose="02020603050405020304" pitchFamily="2" charset="0"/>
              </a:rPr>
              <a:t>逻辑模式</a:t>
            </a:r>
            <a:r>
              <a:rPr lang="en-US" altLang="zh-CN" dirty="0">
                <a:latin typeface="Times New Roman" panose="02020603050405020304" pitchFamily="2" charset="0"/>
                <a:cs typeface="Times New Roman" panose="02020603050405020304" pitchFamily="2" charset="0"/>
              </a:rPr>
              <a:t>’</a:t>
            </a:r>
            <a:r>
              <a:rPr lang="zh-CN" altLang="en-US" dirty="0"/>
              <a:t>）</a:t>
            </a:r>
            <a:endParaRPr lang="zh-CN" altLang="en-US" dirty="0"/>
          </a:p>
          <a:p>
            <a:pPr lvl="1"/>
            <a:r>
              <a:rPr lang="zh-CN" altLang="en-US" dirty="0"/>
              <a:t>数据库中全体数据的逻辑结构和特征的描述</a:t>
            </a:r>
            <a:endParaRPr lang="zh-CN" altLang="en-US" dirty="0"/>
          </a:p>
          <a:p>
            <a:pPr lvl="1"/>
            <a:r>
              <a:rPr lang="zh-CN" altLang="en-US" dirty="0"/>
              <a:t>是所有用户的公共数据视图</a:t>
            </a:r>
            <a:endParaRPr lang="zh-CN" altLang="en-US" dirty="0"/>
          </a:p>
          <a:p>
            <a:pPr lvl="1"/>
            <a:r>
              <a:rPr lang="zh-CN" altLang="en-US" dirty="0"/>
              <a:t>一个数据库只有一个模式</a:t>
            </a:r>
            <a:endParaRPr lang="zh-CN" altLang="en-US" dirty="0"/>
          </a:p>
          <a:p>
            <a:r>
              <a:rPr lang="zh-CN" altLang="en-US" dirty="0">
                <a:solidFill>
                  <a:srgbClr val="FF0000"/>
                </a:solidFill>
              </a:rPr>
              <a:t>模式的地位</a:t>
            </a:r>
            <a:r>
              <a:rPr lang="zh-CN" altLang="en-US" dirty="0"/>
              <a:t>：是数据库系统模式结构的中间层</a:t>
            </a:r>
            <a:endParaRPr lang="zh-CN" altLang="en-US" dirty="0"/>
          </a:p>
          <a:p>
            <a:pPr lvl="1"/>
            <a:r>
              <a:rPr lang="zh-CN" altLang="en-US" dirty="0"/>
              <a:t>与数据的物理存储细节和硬件环境无关</a:t>
            </a:r>
            <a:endParaRPr lang="zh-CN" altLang="en-US" dirty="0"/>
          </a:p>
          <a:p>
            <a:pPr lvl="1"/>
            <a:r>
              <a:rPr lang="zh-CN" altLang="en-US" dirty="0"/>
              <a:t>与具体的应用程序、开发工具及高级程序设计语言无关</a:t>
            </a:r>
            <a:endParaRPr lang="en-US" altLang="zh-CN" dirty="0"/>
          </a:p>
          <a:p>
            <a:r>
              <a:rPr lang="zh-CN" altLang="en-US" dirty="0">
                <a:solidFill>
                  <a:srgbClr val="FF0000"/>
                </a:solidFill>
              </a:rPr>
              <a:t>模式的定义</a:t>
            </a:r>
            <a:endParaRPr lang="zh-CN" altLang="en-US" dirty="0"/>
          </a:p>
          <a:p>
            <a:pPr lvl="1"/>
            <a:r>
              <a:rPr lang="zh-CN" altLang="en-US" dirty="0"/>
              <a:t>数据的逻辑结构（数据项的名字、类型、取值范围等）</a:t>
            </a:r>
            <a:endParaRPr lang="zh-CN" altLang="en-US" dirty="0"/>
          </a:p>
          <a:p>
            <a:pPr lvl="1"/>
            <a:r>
              <a:rPr lang="zh-CN" altLang="en-US" dirty="0"/>
              <a:t>数据之间的联系</a:t>
            </a:r>
            <a:endParaRPr lang="zh-CN" altLang="en-US" dirty="0"/>
          </a:p>
          <a:p>
            <a:pPr lvl="1"/>
            <a:r>
              <a:rPr lang="zh-CN" altLang="en-US" dirty="0"/>
              <a:t>数据有关的安全性、完整性要求</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1026"/>
          <p:cNvSpPr>
            <a:spLocks noGrp="1" noChangeArrowheads="1"/>
          </p:cNvSpPr>
          <p:nvPr>
            <p:ph type="title"/>
          </p:nvPr>
        </p:nvSpPr>
        <p:spPr/>
        <p:txBody>
          <a:bodyPr/>
          <a:lstStyle/>
          <a:p>
            <a:r>
              <a:rPr lang="zh-CN" altLang="en-US" dirty="0"/>
              <a:t>外模式（</a:t>
            </a:r>
            <a:r>
              <a:rPr lang="en-US" altLang="zh-CN" dirty="0"/>
              <a:t>1</a:t>
            </a:r>
            <a:r>
              <a:rPr lang="zh-CN" altLang="en-US" dirty="0"/>
              <a:t>）</a:t>
            </a:r>
            <a:endParaRPr lang="zh-CN" altLang="en-US" dirty="0"/>
          </a:p>
        </p:txBody>
      </p:sp>
      <p:sp>
        <p:nvSpPr>
          <p:cNvPr id="117763" name="Rectangle 1027"/>
          <p:cNvSpPr>
            <a:spLocks noGrp="1" noChangeArrowheads="1"/>
          </p:cNvSpPr>
          <p:nvPr>
            <p:ph idx="1"/>
          </p:nvPr>
        </p:nvSpPr>
        <p:spPr/>
        <p:txBody>
          <a:bodyPr/>
          <a:lstStyle/>
          <a:p>
            <a:r>
              <a:rPr lang="zh-CN" altLang="en-US" dirty="0">
                <a:solidFill>
                  <a:srgbClr val="FF0000"/>
                </a:solidFill>
              </a:rPr>
              <a:t>外模式</a:t>
            </a:r>
            <a:r>
              <a:rPr lang="zh-CN" altLang="en-US" dirty="0"/>
              <a:t>（</a:t>
            </a:r>
            <a:r>
              <a:rPr lang="en-US" altLang="zh-CN" dirty="0"/>
              <a:t>External Schema</a:t>
            </a:r>
            <a:r>
              <a:rPr lang="zh-CN" altLang="en-US" dirty="0"/>
              <a:t>） </a:t>
            </a:r>
            <a:endParaRPr lang="en-US" altLang="zh-CN" dirty="0"/>
          </a:p>
          <a:p>
            <a:pPr lvl="1">
              <a:lnSpc>
                <a:spcPct val="110000"/>
              </a:lnSpc>
              <a:spcBef>
                <a:spcPts val="2000"/>
              </a:spcBef>
            </a:pPr>
            <a:r>
              <a:rPr lang="zh-CN" altLang="en-US" dirty="0"/>
              <a:t>也称</a:t>
            </a:r>
            <a:r>
              <a:rPr lang="en-US" altLang="zh-CN" dirty="0">
                <a:latin typeface="Times New Roman" panose="02020603050405020304" pitchFamily="2" charset="0"/>
                <a:cs typeface="Times New Roman" panose="02020603050405020304" pitchFamily="2" charset="0"/>
              </a:rPr>
              <a:t>‘</a:t>
            </a:r>
            <a:r>
              <a:rPr lang="zh-CN" altLang="en-US" dirty="0">
                <a:solidFill>
                  <a:srgbClr val="FF0000"/>
                </a:solidFill>
                <a:latin typeface="Times New Roman" panose="02020603050405020304" pitchFamily="2" charset="0"/>
                <a:cs typeface="Times New Roman" panose="02020603050405020304" pitchFamily="2" charset="0"/>
              </a:rPr>
              <a:t>子模式</a:t>
            </a:r>
            <a:r>
              <a:rPr lang="en-US" altLang="zh-CN" dirty="0">
                <a:latin typeface="Times New Roman" panose="02020603050405020304" pitchFamily="2" charset="0"/>
                <a:cs typeface="Times New Roman" panose="02020603050405020304" pitchFamily="2" charset="0"/>
              </a:rPr>
              <a:t>’ </a:t>
            </a:r>
            <a:r>
              <a:rPr lang="zh-CN" altLang="en-US" dirty="0">
                <a:latin typeface="Times New Roman" panose="02020603050405020304" pitchFamily="2" charset="0"/>
                <a:cs typeface="Times New Roman" panose="02020603050405020304" pitchFamily="2" charset="0"/>
              </a:rPr>
              <a:t>或</a:t>
            </a:r>
            <a:r>
              <a:rPr lang="en-US" altLang="zh-CN" dirty="0">
                <a:latin typeface="Times New Roman" panose="02020603050405020304" pitchFamily="2" charset="0"/>
                <a:cs typeface="Times New Roman" panose="02020603050405020304" pitchFamily="2" charset="0"/>
              </a:rPr>
              <a:t> ‘</a:t>
            </a:r>
            <a:r>
              <a:rPr lang="zh-CN" altLang="en-US" dirty="0">
                <a:solidFill>
                  <a:srgbClr val="FF0000"/>
                </a:solidFill>
                <a:latin typeface="Times New Roman" panose="02020603050405020304" pitchFamily="2" charset="0"/>
                <a:cs typeface="Times New Roman" panose="02020603050405020304" pitchFamily="2" charset="0"/>
              </a:rPr>
              <a:t>用户模式</a:t>
            </a:r>
            <a:r>
              <a:rPr lang="en-US" altLang="zh-CN" dirty="0">
                <a:latin typeface="Times New Roman" panose="02020603050405020304" pitchFamily="2" charset="0"/>
                <a:cs typeface="Times New Roman" panose="02020603050405020304" pitchFamily="2" charset="0"/>
              </a:rPr>
              <a:t>’</a:t>
            </a:r>
            <a:endParaRPr lang="zh-CN" altLang="en-US" dirty="0">
              <a:latin typeface="Times New Roman" panose="02020603050405020304" pitchFamily="2" charset="0"/>
              <a:cs typeface="Times New Roman" panose="02020603050405020304" pitchFamily="2" charset="0"/>
            </a:endParaRPr>
          </a:p>
          <a:p>
            <a:pPr lvl="1">
              <a:lnSpc>
                <a:spcPct val="110000"/>
              </a:lnSpc>
              <a:spcBef>
                <a:spcPts val="2000"/>
              </a:spcBef>
            </a:pPr>
            <a:r>
              <a:rPr lang="zh-CN" altLang="en-US" dirty="0"/>
              <a:t>是</a:t>
            </a:r>
            <a:r>
              <a:rPr lang="zh-CN" altLang="en-US" dirty="0"/>
              <a:t>对数据库用户（包括应用程序员和最终用户）使用的局部数据的逻辑结构和特征的描述</a:t>
            </a:r>
            <a:endParaRPr lang="zh-CN" altLang="en-US" dirty="0"/>
          </a:p>
          <a:p>
            <a:pPr lvl="1">
              <a:lnSpc>
                <a:spcPct val="110000"/>
              </a:lnSpc>
              <a:spcBef>
                <a:spcPts val="2000"/>
              </a:spcBef>
            </a:pPr>
            <a:r>
              <a:rPr lang="zh-CN" altLang="en-US" dirty="0"/>
              <a:t>属于数据库用户的数据视图，</a:t>
            </a:r>
            <a:r>
              <a:rPr lang="zh-CN" altLang="en-US" dirty="0">
                <a:sym typeface="+mn-ea"/>
              </a:rPr>
              <a:t>是</a:t>
            </a:r>
            <a:r>
              <a:rPr lang="zh-CN" altLang="en-US" dirty="0"/>
              <a:t>与某一应用有关的数据的逻辑表示</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外模式（</a:t>
            </a:r>
            <a:r>
              <a:rPr lang="en-US" altLang="zh-CN" dirty="0">
                <a:sym typeface="+mn-ea"/>
              </a:rPr>
              <a:t>2</a:t>
            </a:r>
            <a:r>
              <a:rPr lang="zh-CN" altLang="en-US" dirty="0">
                <a:sym typeface="+mn-ea"/>
              </a:rPr>
              <a:t>）</a:t>
            </a:r>
            <a:endParaRPr lang="zh-CN" altLang="en-US"/>
          </a:p>
        </p:txBody>
      </p:sp>
      <p:sp>
        <p:nvSpPr>
          <p:cNvPr id="3" name="内容占位符 2"/>
          <p:cNvSpPr>
            <a:spLocks noGrp="1"/>
          </p:cNvSpPr>
          <p:nvPr>
            <p:ph idx="1"/>
          </p:nvPr>
        </p:nvSpPr>
        <p:spPr/>
        <p:txBody>
          <a:bodyPr/>
          <a:p>
            <a:r>
              <a:rPr lang="zh-CN" altLang="en-US" sz="3000" dirty="0">
                <a:solidFill>
                  <a:srgbClr val="FF0000"/>
                </a:solidFill>
                <a:sym typeface="+mn-ea"/>
              </a:rPr>
              <a:t>外模式的地位</a:t>
            </a:r>
            <a:r>
              <a:rPr lang="zh-CN" altLang="en-US" sz="3000" dirty="0">
                <a:sym typeface="+mn-ea"/>
              </a:rPr>
              <a:t>：介于模式与应用之间</a:t>
            </a:r>
            <a:endParaRPr lang="zh-CN" altLang="en-US" sz="3000" dirty="0"/>
          </a:p>
          <a:p>
            <a:pPr lvl="1"/>
            <a:r>
              <a:rPr lang="zh-CN" altLang="en-US" dirty="0">
                <a:sym typeface="+mn-ea"/>
              </a:rPr>
              <a:t>模式与外模式的关系：一对多</a:t>
            </a:r>
            <a:endParaRPr lang="zh-CN" altLang="en-US" dirty="0"/>
          </a:p>
          <a:p>
            <a:pPr lvl="2"/>
            <a:r>
              <a:rPr lang="zh-CN" altLang="en-US" sz="2400" dirty="0">
                <a:sym typeface="+mn-ea"/>
              </a:rPr>
              <a:t>外模式通常是模式的子集</a:t>
            </a:r>
            <a:endParaRPr lang="zh-CN" altLang="en-US" sz="2400" dirty="0"/>
          </a:p>
          <a:p>
            <a:pPr lvl="2"/>
            <a:r>
              <a:rPr lang="zh-CN" altLang="en-US" sz="2400" dirty="0">
                <a:sym typeface="+mn-ea"/>
              </a:rPr>
              <a:t>一个数据库可以有多个外模式。反映了不同的用户的应用需求、看待数据的方式、对数据保密的要求</a:t>
            </a:r>
            <a:endParaRPr lang="zh-CN" altLang="en-US" sz="2400" dirty="0"/>
          </a:p>
          <a:p>
            <a:pPr lvl="2"/>
            <a:r>
              <a:rPr lang="zh-CN" altLang="en-US" sz="2400" dirty="0">
                <a:sym typeface="+mn-ea"/>
              </a:rPr>
              <a:t>对模式中同一数据，在外模式中的结构、类型、长度、保密级别等都可以不同</a:t>
            </a:r>
            <a:endParaRPr lang="zh-CN" altLang="en-US" sz="2400" dirty="0"/>
          </a:p>
          <a:p>
            <a:pPr lvl="1"/>
            <a:r>
              <a:rPr lang="zh-CN" altLang="en-US" dirty="0">
                <a:sym typeface="+mn-ea"/>
              </a:rPr>
              <a:t>外模式与应用的关系：一对多</a:t>
            </a:r>
            <a:endParaRPr lang="zh-CN" altLang="en-US" dirty="0"/>
          </a:p>
          <a:p>
            <a:pPr lvl="2"/>
            <a:r>
              <a:rPr lang="zh-CN" altLang="en-US" sz="2400" dirty="0">
                <a:sym typeface="+mn-ea"/>
              </a:rPr>
              <a:t>同一外模式也可以为某一用户的多个应用系统所使用</a:t>
            </a:r>
            <a:endParaRPr lang="zh-CN" altLang="en-US" sz="2400" dirty="0"/>
          </a:p>
          <a:p>
            <a:pPr lvl="2"/>
            <a:r>
              <a:rPr lang="zh-CN" altLang="en-US" sz="2400" dirty="0">
                <a:sym typeface="+mn-ea"/>
              </a:rPr>
              <a:t>但一个应用程序只能使用一个外模式</a:t>
            </a:r>
            <a:endParaRPr lang="en-US" altLang="zh-CN" sz="2400" dirty="0"/>
          </a:p>
          <a:p>
            <a:r>
              <a:rPr lang="zh-CN" altLang="en-US" sz="3000" dirty="0">
                <a:solidFill>
                  <a:srgbClr val="FF0000"/>
                </a:solidFill>
                <a:sym typeface="+mn-ea"/>
              </a:rPr>
              <a:t>外模式的用途</a:t>
            </a:r>
            <a:endParaRPr lang="zh-CN" altLang="en-US" sz="3000" dirty="0"/>
          </a:p>
          <a:p>
            <a:pPr lvl="1"/>
            <a:r>
              <a:rPr lang="zh-CN" altLang="en-US" dirty="0">
                <a:sym typeface="+mn-ea"/>
              </a:rPr>
              <a:t>保证数据库安全性的一个有力措施</a:t>
            </a:r>
            <a:endParaRPr lang="zh-CN" altLang="en-US" dirty="0"/>
          </a:p>
          <a:p>
            <a:pPr lvl="1"/>
            <a:r>
              <a:rPr lang="zh-CN" altLang="en-US" dirty="0">
                <a:sym typeface="+mn-ea"/>
              </a:rPr>
              <a:t>每个用户只能看见和访问所对应的外模式中的数据</a:t>
            </a:r>
            <a:endParaRPr lang="zh-CN" altLang="en-US" dirty="0"/>
          </a:p>
          <a:p>
            <a:endParaRPr lang="zh-CN" altLang="en-US"/>
          </a:p>
        </p:txBody>
      </p:sp>
      <p:sp>
        <p:nvSpPr>
          <p:cNvPr id="5" name="灯片编号占位符 4"/>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zh-CN" altLang="en-US" dirty="0"/>
              <a:t>内模式（</a:t>
            </a:r>
            <a:r>
              <a:rPr lang="en-US" altLang="zh-CN" dirty="0"/>
              <a:t>Internal Schema</a:t>
            </a:r>
            <a:r>
              <a:rPr lang="zh-CN" altLang="en-US" dirty="0"/>
              <a:t>）</a:t>
            </a:r>
            <a:endParaRPr lang="zh-CN" altLang="en-US" dirty="0"/>
          </a:p>
        </p:txBody>
      </p:sp>
      <p:sp>
        <p:nvSpPr>
          <p:cNvPr id="120835" name="Rectangle 3"/>
          <p:cNvSpPr>
            <a:spLocks noGrp="1" noChangeArrowheads="1"/>
          </p:cNvSpPr>
          <p:nvPr>
            <p:ph idx="1"/>
          </p:nvPr>
        </p:nvSpPr>
        <p:spPr/>
        <p:txBody>
          <a:bodyPr>
            <a:normAutofit/>
          </a:bodyPr>
          <a:lstStyle/>
          <a:p>
            <a:r>
              <a:rPr lang="zh-CN" altLang="en-US" dirty="0">
                <a:solidFill>
                  <a:srgbClr val="FF0000"/>
                </a:solidFill>
              </a:rPr>
              <a:t>内模式</a:t>
            </a:r>
            <a:r>
              <a:rPr lang="zh-CN" altLang="en-US" dirty="0">
                <a:latin typeface="Times New Roman" panose="02020603050405020304" pitchFamily="2" charset="0"/>
                <a:cs typeface="Times New Roman" panose="02020603050405020304" pitchFamily="2" charset="0"/>
              </a:rPr>
              <a:t>（也称</a:t>
            </a:r>
            <a:r>
              <a:rPr lang="en-US" altLang="zh-CN" dirty="0">
                <a:latin typeface="Times New Roman" panose="02020603050405020304" pitchFamily="2" charset="0"/>
                <a:cs typeface="Times New Roman" panose="02020603050405020304" pitchFamily="2" charset="0"/>
              </a:rPr>
              <a:t> ‘</a:t>
            </a:r>
            <a:r>
              <a:rPr lang="zh-CN" altLang="en-US" dirty="0">
                <a:solidFill>
                  <a:srgbClr val="FF0000"/>
                </a:solidFill>
                <a:latin typeface="Times New Roman" panose="02020603050405020304" pitchFamily="2" charset="0"/>
                <a:cs typeface="Times New Roman" panose="02020603050405020304" pitchFamily="2" charset="0"/>
              </a:rPr>
              <a:t>存储模式</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或</a:t>
            </a:r>
            <a:r>
              <a:rPr lang="en-US" altLang="zh-CN" dirty="0">
                <a:latin typeface="Times New Roman" panose="02020603050405020304" pitchFamily="2" charset="0"/>
                <a:cs typeface="Times New Roman" panose="02020603050405020304" pitchFamily="2" charset="0"/>
              </a:rPr>
              <a:t> ‘</a:t>
            </a:r>
            <a:r>
              <a:rPr lang="zh-CN" altLang="en-US" dirty="0">
                <a:solidFill>
                  <a:srgbClr val="FF0000"/>
                </a:solidFill>
                <a:latin typeface="Times New Roman" panose="02020603050405020304" pitchFamily="2" charset="0"/>
                <a:cs typeface="Times New Roman" panose="02020603050405020304" pitchFamily="2" charset="0"/>
              </a:rPr>
              <a:t>物理模式</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a:t>
            </a:r>
            <a:endParaRPr lang="zh-CN" altLang="en-US" dirty="0">
              <a:latin typeface="Times New Roman" panose="02020603050405020304" pitchFamily="2" charset="0"/>
              <a:cs typeface="Times New Roman" panose="02020603050405020304" pitchFamily="2" charset="0"/>
            </a:endParaRPr>
          </a:p>
          <a:p>
            <a:pPr lvl="1"/>
            <a:r>
              <a:rPr lang="zh-CN" altLang="en-US" dirty="0"/>
              <a:t>是数据物理结构和存储方式的描述</a:t>
            </a:r>
            <a:endParaRPr lang="zh-CN" altLang="en-US" dirty="0"/>
          </a:p>
          <a:p>
            <a:pPr lvl="1">
              <a:lnSpc>
                <a:spcPct val="110000"/>
              </a:lnSpc>
              <a:spcBef>
                <a:spcPts val="2000"/>
              </a:spcBef>
            </a:pPr>
            <a:r>
              <a:rPr lang="zh-CN" altLang="en-US" dirty="0"/>
              <a:t>是数据在数据库内部的表示方式</a:t>
            </a:r>
            <a:endParaRPr lang="zh-CN" altLang="en-US" dirty="0"/>
          </a:p>
          <a:p>
            <a:pPr lvl="2"/>
            <a:r>
              <a:rPr lang="zh-CN" altLang="en-US" dirty="0"/>
              <a:t>记录的存储方式（例如，顺序存储、堆存储、</a:t>
            </a:r>
            <a:r>
              <a:rPr lang="en-US" altLang="zh-CN" dirty="0"/>
              <a:t>hash</a:t>
            </a:r>
            <a:r>
              <a:rPr lang="zh-CN" altLang="en-US" dirty="0"/>
              <a:t>存储等）</a:t>
            </a:r>
            <a:endParaRPr lang="zh-CN" altLang="en-US" dirty="0"/>
          </a:p>
          <a:p>
            <a:pPr lvl="2"/>
            <a:r>
              <a:rPr lang="zh-CN" altLang="en-US" dirty="0"/>
              <a:t>索引的组织方式</a:t>
            </a:r>
            <a:endParaRPr lang="zh-CN" altLang="en-US" dirty="0"/>
          </a:p>
          <a:p>
            <a:pPr lvl="2"/>
            <a:r>
              <a:rPr lang="zh-CN" altLang="en-US" dirty="0"/>
              <a:t>数据是否压缩存储</a:t>
            </a:r>
            <a:endParaRPr lang="zh-CN" altLang="en-US" dirty="0"/>
          </a:p>
          <a:p>
            <a:pPr lvl="2"/>
            <a:r>
              <a:rPr lang="zh-CN" altLang="en-US" dirty="0"/>
              <a:t>数据是否加密</a:t>
            </a:r>
            <a:endParaRPr lang="zh-CN" altLang="en-US" dirty="0"/>
          </a:p>
          <a:p>
            <a:pPr lvl="2"/>
            <a:r>
              <a:rPr lang="zh-CN" altLang="en-US" dirty="0"/>
              <a:t>数据存储记录结构的规定</a:t>
            </a:r>
            <a:endParaRPr lang="zh-CN" altLang="en-US" dirty="0"/>
          </a:p>
          <a:p>
            <a:pPr lvl="2"/>
            <a:endParaRPr lang="zh-CN" altLang="en-US" dirty="0"/>
          </a:p>
          <a:p>
            <a:r>
              <a:rPr lang="zh-CN" altLang="en-US" dirty="0"/>
              <a:t>一个数据库只有一个内模式</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r>
              <a:rPr lang="zh-CN" altLang="en-US" dirty="0"/>
              <a:t>数据库的二级映像与数据独立性</a:t>
            </a:r>
            <a:endParaRPr lang="zh-CN" altLang="en-US" dirty="0"/>
          </a:p>
        </p:txBody>
      </p:sp>
      <p:sp>
        <p:nvSpPr>
          <p:cNvPr id="122883" name="Rectangle 3"/>
          <p:cNvSpPr>
            <a:spLocks noGrp="1" noChangeArrowheads="1"/>
          </p:cNvSpPr>
          <p:nvPr>
            <p:ph idx="1"/>
          </p:nvPr>
        </p:nvSpPr>
        <p:spPr/>
        <p:txBody>
          <a:bodyPr/>
          <a:lstStyle/>
          <a:p>
            <a:r>
              <a:rPr lang="zh-CN" altLang="en-US" dirty="0"/>
              <a:t>三级模式是对数据的三个抽象级别</a:t>
            </a:r>
            <a:endParaRPr lang="zh-CN" altLang="en-US" dirty="0"/>
          </a:p>
          <a:p>
            <a:endParaRPr lang="zh-CN" altLang="en-US" dirty="0"/>
          </a:p>
          <a:p>
            <a:r>
              <a:rPr lang="zh-CN" altLang="en-US" dirty="0"/>
              <a:t>二级映象在数据库管理系统内部实现这三个抽象层次的联系和转换</a:t>
            </a:r>
            <a:endParaRPr lang="zh-CN" altLang="en-US" dirty="0"/>
          </a:p>
          <a:p>
            <a:pPr lvl="1"/>
            <a:r>
              <a:rPr lang="zh-CN" altLang="en-US" dirty="0"/>
              <a:t>外模式／模式映像</a:t>
            </a:r>
            <a:endParaRPr lang="zh-CN" altLang="en-US" dirty="0"/>
          </a:p>
          <a:p>
            <a:pPr lvl="1"/>
            <a:r>
              <a:rPr lang="zh-CN" altLang="en-US" dirty="0"/>
              <a:t>模式／内模式映像 </a:t>
            </a:r>
            <a:endParaRPr lang="zh-CN" altLang="en-US" dirty="0"/>
          </a:p>
          <a:p>
            <a:endParaRPr lang="en-US" altLang="zh-CN"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zh-CN" altLang="en-US" dirty="0"/>
              <a:t>外模式／模式映像</a:t>
            </a:r>
            <a:endParaRPr lang="zh-CN" altLang="en-US" dirty="0"/>
          </a:p>
        </p:txBody>
      </p:sp>
      <p:sp>
        <p:nvSpPr>
          <p:cNvPr id="123907" name="Rectangle 3"/>
          <p:cNvSpPr>
            <a:spLocks noGrp="1" noChangeArrowheads="1"/>
          </p:cNvSpPr>
          <p:nvPr>
            <p:ph idx="1"/>
          </p:nvPr>
        </p:nvSpPr>
        <p:spPr/>
        <p:txBody>
          <a:bodyPr>
            <a:normAutofit/>
          </a:bodyPr>
          <a:lstStyle/>
          <a:p>
            <a:r>
              <a:rPr lang="zh-CN" altLang="en-US" dirty="0">
                <a:solidFill>
                  <a:srgbClr val="FF0000"/>
                </a:solidFill>
              </a:rPr>
              <a:t>模式</a:t>
            </a:r>
            <a:r>
              <a:rPr lang="zh-CN" altLang="en-US" dirty="0"/>
              <a:t>：描述的是数据的全局逻辑结构</a:t>
            </a:r>
            <a:endParaRPr lang="zh-CN" altLang="en-US" dirty="0"/>
          </a:p>
          <a:p>
            <a:r>
              <a:rPr lang="zh-CN" altLang="en-US" dirty="0">
                <a:solidFill>
                  <a:srgbClr val="FF0000"/>
                </a:solidFill>
              </a:rPr>
              <a:t>外模式</a:t>
            </a:r>
            <a:r>
              <a:rPr lang="zh-CN" altLang="en-US" dirty="0"/>
              <a:t>：描述的是数据的局部逻辑结构 </a:t>
            </a:r>
            <a:endParaRPr lang="zh-CN" altLang="en-US" dirty="0"/>
          </a:p>
          <a:p>
            <a:pPr lvl="1"/>
            <a:r>
              <a:rPr lang="zh-CN" altLang="en-US" dirty="0"/>
              <a:t>同一个模式可以有任意多个外模式 </a:t>
            </a:r>
            <a:endParaRPr lang="zh-CN" altLang="en-US" dirty="0"/>
          </a:p>
          <a:p>
            <a:pPr lvl="1"/>
            <a:r>
              <a:rPr lang="zh-CN" altLang="en-US" dirty="0"/>
              <a:t>每一个外模式，数据库系统都有一个外模式／模式映象，定义外模式与模式之间的对应关系</a:t>
            </a:r>
            <a:endParaRPr lang="zh-CN" altLang="en-US" dirty="0"/>
          </a:p>
          <a:p>
            <a:pPr lvl="1"/>
            <a:r>
              <a:rPr lang="zh-CN" altLang="en-US" dirty="0"/>
              <a:t>映象定义通常包含在各自外模式的描述中</a:t>
            </a:r>
            <a:endParaRPr lang="en-US" altLang="zh-CN" dirty="0"/>
          </a:p>
          <a:p>
            <a:pPr>
              <a:lnSpc>
                <a:spcPct val="110000"/>
              </a:lnSpc>
              <a:spcBef>
                <a:spcPts val="2000"/>
              </a:spcBef>
            </a:pPr>
            <a:r>
              <a:rPr lang="zh-CN" altLang="en-US" dirty="0">
                <a:solidFill>
                  <a:srgbClr val="FF0000"/>
                </a:solidFill>
              </a:rPr>
              <a:t>保证数据的逻辑独立性</a:t>
            </a:r>
            <a:endParaRPr lang="zh-CN" altLang="en-US" dirty="0"/>
          </a:p>
          <a:p>
            <a:pPr lvl="1"/>
            <a:r>
              <a:rPr lang="zh-CN" altLang="en-US" dirty="0"/>
              <a:t>当模式改变时，数据库管理员对外模式／模式映象作相应改变，使外模式保持不变</a:t>
            </a:r>
            <a:endParaRPr lang="zh-CN" altLang="en-US" dirty="0"/>
          </a:p>
          <a:p>
            <a:pPr lvl="1">
              <a:lnSpc>
                <a:spcPct val="110000"/>
              </a:lnSpc>
              <a:spcBef>
                <a:spcPts val="1000"/>
              </a:spcBef>
            </a:pPr>
            <a:r>
              <a:rPr lang="zh-CN" altLang="en-US" dirty="0"/>
              <a:t>应用程序是依据数据的外模式编写的，应用程序不必修改，保证了数据与程序的逻辑独立性，简称数据的逻辑独立性</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r>
              <a:rPr lang="zh-CN" altLang="en-US" dirty="0"/>
              <a:t>模式／内模式映像</a:t>
            </a:r>
            <a:endParaRPr lang="zh-CN" altLang="en-US" dirty="0"/>
          </a:p>
        </p:txBody>
      </p:sp>
      <p:sp>
        <p:nvSpPr>
          <p:cNvPr id="125955" name="Rectangle 3"/>
          <p:cNvSpPr>
            <a:spLocks noGrp="1" noChangeArrowheads="1"/>
          </p:cNvSpPr>
          <p:nvPr>
            <p:ph idx="1"/>
          </p:nvPr>
        </p:nvSpPr>
        <p:spPr/>
        <p:txBody>
          <a:bodyPr>
            <a:normAutofit/>
          </a:bodyPr>
          <a:lstStyle/>
          <a:p>
            <a:r>
              <a:rPr lang="zh-CN" altLang="en-US" dirty="0"/>
              <a:t>模式／内模式映象定义了数据全局逻辑结构与存储结构之间的对应关系。</a:t>
            </a:r>
            <a:endParaRPr lang="zh-CN" altLang="en-US" dirty="0"/>
          </a:p>
          <a:p>
            <a:pPr lvl="1"/>
            <a:r>
              <a:rPr lang="zh-CN" altLang="en-US" dirty="0"/>
              <a:t>例如，说明逻辑记录和字段在</a:t>
            </a:r>
            <a:r>
              <a:rPr lang="zh-CN" altLang="en-US" dirty="0"/>
              <a:t>计算机内部是如何表示的</a:t>
            </a:r>
            <a:endParaRPr lang="zh-CN" altLang="en-US" dirty="0"/>
          </a:p>
          <a:p>
            <a:r>
              <a:rPr lang="zh-CN" altLang="en-US" dirty="0"/>
              <a:t>数据库中模式／内模式映象是唯一的</a:t>
            </a:r>
            <a:endParaRPr lang="zh-CN" altLang="en-US" dirty="0"/>
          </a:p>
          <a:p>
            <a:r>
              <a:rPr lang="zh-CN" altLang="en-US" dirty="0"/>
              <a:t>该映象定义通常包含在模式描述中</a:t>
            </a:r>
            <a:endParaRPr lang="en-US" altLang="zh-CN" dirty="0"/>
          </a:p>
          <a:p>
            <a:pPr>
              <a:lnSpc>
                <a:spcPct val="110000"/>
              </a:lnSpc>
              <a:spcBef>
                <a:spcPts val="2000"/>
              </a:spcBef>
            </a:pPr>
            <a:r>
              <a:rPr lang="zh-CN" altLang="en-US" dirty="0">
                <a:solidFill>
                  <a:srgbClr val="FF0000"/>
                </a:solidFill>
              </a:rPr>
              <a:t>保证数据的物理独立性</a:t>
            </a:r>
            <a:endParaRPr lang="zh-CN" altLang="en-US" dirty="0"/>
          </a:p>
          <a:p>
            <a:pPr lvl="1"/>
            <a:r>
              <a:rPr lang="zh-CN" altLang="en-US" dirty="0"/>
              <a:t>当数据库的存储结构改变了（例如选用了另一种存储结构），数据库管理员修改模式／内模式映象，使模式保持不变。</a:t>
            </a:r>
            <a:endParaRPr lang="zh-CN" altLang="en-US" dirty="0"/>
          </a:p>
          <a:p>
            <a:pPr lvl="1">
              <a:lnSpc>
                <a:spcPct val="110000"/>
              </a:lnSpc>
              <a:spcBef>
                <a:spcPts val="1000"/>
              </a:spcBef>
            </a:pPr>
            <a:r>
              <a:rPr lang="zh-CN" altLang="en-US" dirty="0"/>
              <a:t>应用程序不受影响。保证了数据与程序的物理独立性，简称数据的物理独立性。</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1026"/>
          <p:cNvSpPr>
            <a:spLocks noGrp="1" noChangeArrowheads="1"/>
          </p:cNvSpPr>
          <p:nvPr>
            <p:ph type="title"/>
          </p:nvPr>
        </p:nvSpPr>
        <p:spPr/>
        <p:txBody>
          <a:bodyPr/>
          <a:lstStyle/>
          <a:p>
            <a:r>
              <a:rPr lang="zh-CN" altLang="en-US" dirty="0"/>
              <a:t>数据库的二级映像（</a:t>
            </a:r>
            <a:r>
              <a:rPr lang="en-US" altLang="zh-CN" dirty="0"/>
              <a:t>1</a:t>
            </a:r>
            <a:r>
              <a:rPr lang="zh-CN" altLang="en-US" dirty="0"/>
              <a:t>）</a:t>
            </a:r>
            <a:endParaRPr lang="zh-CN" altLang="en-US" dirty="0"/>
          </a:p>
        </p:txBody>
      </p:sp>
      <p:sp>
        <p:nvSpPr>
          <p:cNvPr id="128003" name="Rectangle 1027"/>
          <p:cNvSpPr>
            <a:spLocks noGrp="1" noChangeArrowheads="1"/>
          </p:cNvSpPr>
          <p:nvPr>
            <p:ph idx="1"/>
          </p:nvPr>
        </p:nvSpPr>
        <p:spPr/>
        <p:txBody>
          <a:bodyPr>
            <a:normAutofit/>
          </a:bodyPr>
          <a:lstStyle/>
          <a:p>
            <a:r>
              <a:rPr lang="zh-CN" altLang="en-US" dirty="0">
                <a:solidFill>
                  <a:srgbClr val="FF0000"/>
                </a:solidFill>
              </a:rPr>
              <a:t>数据库模式</a:t>
            </a:r>
            <a:endParaRPr lang="zh-CN" altLang="en-US" dirty="0"/>
          </a:p>
          <a:p>
            <a:pPr lvl="1"/>
            <a:r>
              <a:rPr lang="zh-CN" altLang="en-US" dirty="0"/>
              <a:t>即全局逻辑结构是数据库的中心与关键 </a:t>
            </a:r>
            <a:endParaRPr lang="zh-CN" altLang="en-US" dirty="0"/>
          </a:p>
          <a:p>
            <a:pPr lvl="1"/>
            <a:r>
              <a:rPr lang="zh-CN" altLang="en-US" dirty="0"/>
              <a:t>独立于数据库的其他层次 </a:t>
            </a:r>
            <a:endParaRPr lang="zh-CN" altLang="en-US" dirty="0"/>
          </a:p>
          <a:p>
            <a:pPr lvl="1"/>
            <a:r>
              <a:rPr lang="zh-CN" altLang="en-US" dirty="0"/>
              <a:t>设计数据库模式结构时应首先确定数据库的逻辑模式</a:t>
            </a:r>
            <a:endParaRPr lang="zh-CN" altLang="en-US" dirty="0"/>
          </a:p>
          <a:p>
            <a:pPr lvl="1"/>
            <a:endParaRPr lang="en-US" altLang="zh-CN" dirty="0"/>
          </a:p>
          <a:p>
            <a:r>
              <a:rPr lang="zh-CN" altLang="en-US" dirty="0">
                <a:solidFill>
                  <a:srgbClr val="FF0000"/>
                </a:solidFill>
              </a:rPr>
              <a:t>数据库的内模式</a:t>
            </a:r>
            <a:endParaRPr lang="zh-CN" altLang="en-US" dirty="0"/>
          </a:p>
          <a:p>
            <a:pPr lvl="1"/>
            <a:r>
              <a:rPr lang="zh-CN" altLang="en-US" dirty="0"/>
              <a:t>依赖于它的全局逻辑结构</a:t>
            </a:r>
            <a:endParaRPr lang="zh-CN" altLang="en-US" dirty="0"/>
          </a:p>
          <a:p>
            <a:pPr lvl="1"/>
            <a:r>
              <a:rPr lang="zh-CN" altLang="en-US" dirty="0"/>
              <a:t>独立于数据库的用户视图，即外模式</a:t>
            </a:r>
            <a:endParaRPr lang="zh-CN" altLang="en-US" dirty="0"/>
          </a:p>
          <a:p>
            <a:pPr lvl="1"/>
            <a:r>
              <a:rPr lang="zh-CN" altLang="en-US" dirty="0"/>
              <a:t>独立于具体的存储设备  </a:t>
            </a:r>
            <a:endParaRPr lang="zh-CN" altLang="en-US" dirty="0"/>
          </a:p>
          <a:p>
            <a:pPr lvl="1"/>
            <a:r>
              <a:rPr lang="zh-CN" altLang="en-US" dirty="0"/>
              <a:t>将全局逻辑结构中所定义的数据结构及其联系按照一定的物理存储策略进行组织，以达到较好的时间与空间效率 </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r>
              <a:rPr lang="zh-CN" altLang="en-US" dirty="0"/>
              <a:t>数据库的二级映像（</a:t>
            </a:r>
            <a:r>
              <a:rPr lang="en-US" altLang="zh-CN" dirty="0"/>
              <a:t>2</a:t>
            </a:r>
            <a:r>
              <a:rPr lang="zh-CN" altLang="en-US" dirty="0"/>
              <a:t>）</a:t>
            </a:r>
            <a:endParaRPr lang="zh-CN" altLang="en-US" dirty="0"/>
          </a:p>
        </p:txBody>
      </p:sp>
      <p:sp>
        <p:nvSpPr>
          <p:cNvPr id="129027" name="Rectangle 3"/>
          <p:cNvSpPr>
            <a:spLocks noGrp="1" noChangeArrowheads="1"/>
          </p:cNvSpPr>
          <p:nvPr>
            <p:ph idx="1"/>
          </p:nvPr>
        </p:nvSpPr>
        <p:spPr/>
        <p:txBody>
          <a:bodyPr>
            <a:noAutofit/>
          </a:bodyPr>
          <a:lstStyle/>
          <a:p>
            <a:pPr>
              <a:lnSpc>
                <a:spcPct val="100000"/>
              </a:lnSpc>
            </a:pPr>
            <a:r>
              <a:rPr lang="zh-CN" altLang="en-US" dirty="0">
                <a:solidFill>
                  <a:srgbClr val="FF0000"/>
                </a:solidFill>
              </a:rPr>
              <a:t>数据库的外模式</a:t>
            </a:r>
            <a:endParaRPr lang="zh-CN" altLang="en-US" dirty="0"/>
          </a:p>
          <a:p>
            <a:pPr lvl="1">
              <a:lnSpc>
                <a:spcPct val="100000"/>
              </a:lnSpc>
            </a:pPr>
            <a:r>
              <a:rPr lang="zh-CN" altLang="en-US" dirty="0"/>
              <a:t>面向具体的应用程序</a:t>
            </a:r>
            <a:endParaRPr lang="zh-CN" altLang="en-US" dirty="0"/>
          </a:p>
          <a:p>
            <a:pPr lvl="1">
              <a:lnSpc>
                <a:spcPct val="100000"/>
              </a:lnSpc>
            </a:pPr>
            <a:r>
              <a:rPr lang="zh-CN" altLang="en-US" dirty="0"/>
              <a:t>定义在逻辑模式之上</a:t>
            </a:r>
            <a:endParaRPr lang="zh-CN" altLang="en-US" dirty="0"/>
          </a:p>
          <a:p>
            <a:pPr lvl="1">
              <a:lnSpc>
                <a:spcPct val="100000"/>
              </a:lnSpc>
            </a:pPr>
            <a:r>
              <a:rPr lang="zh-CN" altLang="en-US" dirty="0"/>
              <a:t>独立于存储模式和存储设备</a:t>
            </a:r>
            <a:endParaRPr lang="zh-CN" altLang="en-US" dirty="0"/>
          </a:p>
          <a:p>
            <a:pPr lvl="1">
              <a:lnSpc>
                <a:spcPct val="100000"/>
              </a:lnSpc>
            </a:pPr>
            <a:r>
              <a:rPr lang="zh-CN" altLang="en-US" dirty="0"/>
              <a:t>当应用需求发生较大变化，相应外模式不能满足其视图要求时，该外模式就得做相应改动 </a:t>
            </a:r>
            <a:endParaRPr lang="zh-CN" altLang="en-US" dirty="0"/>
          </a:p>
          <a:p>
            <a:pPr lvl="1">
              <a:lnSpc>
                <a:spcPct val="100000"/>
              </a:lnSpc>
            </a:pPr>
            <a:r>
              <a:rPr lang="zh-CN" altLang="en-US" dirty="0"/>
              <a:t>设计外模式时应充分考虑到应用的扩充性 </a:t>
            </a:r>
            <a:endParaRPr lang="en-US" altLang="zh-CN" dirty="0"/>
          </a:p>
          <a:p>
            <a:pPr>
              <a:lnSpc>
                <a:spcPct val="100000"/>
              </a:lnSpc>
              <a:spcBef>
                <a:spcPts val="3000"/>
              </a:spcBef>
            </a:pPr>
            <a:r>
              <a:rPr lang="zh-CN" altLang="en-US" dirty="0">
                <a:solidFill>
                  <a:srgbClr val="FF0000"/>
                </a:solidFill>
              </a:rPr>
              <a:t>特定的应用程序</a:t>
            </a:r>
            <a:endParaRPr lang="zh-CN" altLang="en-US" dirty="0"/>
          </a:p>
          <a:p>
            <a:pPr lvl="1">
              <a:lnSpc>
                <a:spcPct val="100000"/>
              </a:lnSpc>
            </a:pPr>
            <a:r>
              <a:rPr lang="zh-CN" altLang="en-US" dirty="0"/>
              <a:t>在外模式描述的数据结构上编制的</a:t>
            </a:r>
            <a:endParaRPr lang="zh-CN" altLang="en-US" dirty="0"/>
          </a:p>
          <a:p>
            <a:pPr lvl="1">
              <a:lnSpc>
                <a:spcPct val="100000"/>
              </a:lnSpc>
            </a:pPr>
            <a:r>
              <a:rPr lang="zh-CN" altLang="en-US" dirty="0"/>
              <a:t>依赖于特定的外模式</a:t>
            </a:r>
            <a:endParaRPr lang="zh-CN" altLang="en-US" dirty="0"/>
          </a:p>
          <a:p>
            <a:pPr lvl="1">
              <a:lnSpc>
                <a:spcPct val="100000"/>
              </a:lnSpc>
            </a:pPr>
            <a:r>
              <a:rPr lang="zh-CN" altLang="en-US" dirty="0"/>
              <a:t>与数据库的模式和存储结构独立</a:t>
            </a:r>
            <a:endParaRPr lang="zh-CN" altLang="en-US" dirty="0"/>
          </a:p>
          <a:p>
            <a:pPr lvl="1">
              <a:lnSpc>
                <a:spcPct val="100000"/>
              </a:lnSpc>
            </a:pPr>
            <a:r>
              <a:rPr lang="zh-CN" altLang="en-US" dirty="0"/>
              <a:t>不同的应用程序有时可以共用同一个外模式</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1026"/>
          <p:cNvSpPr>
            <a:spLocks noGrp="1" noChangeArrowheads="1"/>
          </p:cNvSpPr>
          <p:nvPr>
            <p:ph type="title"/>
          </p:nvPr>
        </p:nvSpPr>
        <p:spPr/>
        <p:txBody>
          <a:bodyPr/>
          <a:lstStyle/>
          <a:p>
            <a:r>
              <a:rPr lang="zh-CN" altLang="en-US" dirty="0"/>
              <a:t>数据库的二级映像（</a:t>
            </a:r>
            <a:r>
              <a:rPr lang="en-US" altLang="zh-CN" dirty="0"/>
              <a:t>3</a:t>
            </a:r>
            <a:r>
              <a:rPr lang="zh-CN" altLang="en-US" dirty="0"/>
              <a:t>）</a:t>
            </a:r>
            <a:endParaRPr lang="zh-CN" altLang="en-US" dirty="0"/>
          </a:p>
        </p:txBody>
      </p:sp>
      <p:sp>
        <p:nvSpPr>
          <p:cNvPr id="130051" name="Rectangle 1027"/>
          <p:cNvSpPr>
            <a:spLocks noGrp="1" noChangeArrowheads="1"/>
          </p:cNvSpPr>
          <p:nvPr>
            <p:ph idx="1"/>
          </p:nvPr>
        </p:nvSpPr>
        <p:spPr/>
        <p:txBody>
          <a:bodyPr>
            <a:noAutofit/>
          </a:bodyPr>
          <a:lstStyle/>
          <a:p>
            <a:pPr eaLnBrk="1" hangingPunct="1">
              <a:lnSpc>
                <a:spcPct val="110000"/>
              </a:lnSpc>
              <a:spcBef>
                <a:spcPct val="0"/>
              </a:spcBef>
            </a:pPr>
            <a:r>
              <a:rPr lang="zh-CN" altLang="en-US" dirty="0">
                <a:solidFill>
                  <a:srgbClr val="FF0000"/>
                </a:solidFill>
              </a:rPr>
              <a:t>数据库的二级映像</a:t>
            </a:r>
            <a:endParaRPr lang="zh-CN" altLang="en-US" dirty="0"/>
          </a:p>
          <a:p>
            <a:pPr lvl="1" eaLnBrk="1" hangingPunct="1">
              <a:lnSpc>
                <a:spcPct val="110000"/>
              </a:lnSpc>
              <a:spcBef>
                <a:spcPct val="0"/>
              </a:spcBef>
            </a:pPr>
            <a:r>
              <a:rPr lang="zh-CN" altLang="en-US" dirty="0"/>
              <a:t>保证了数据库外模式的稳定性</a:t>
            </a:r>
            <a:endParaRPr lang="zh-CN" altLang="en-US" dirty="0"/>
          </a:p>
          <a:p>
            <a:pPr lvl="1" eaLnBrk="1" hangingPunct="1">
              <a:lnSpc>
                <a:spcPct val="110000"/>
              </a:lnSpc>
              <a:spcBef>
                <a:spcPct val="0"/>
              </a:spcBef>
            </a:pPr>
            <a:r>
              <a:rPr lang="zh-CN" altLang="en-US" dirty="0"/>
              <a:t>从底层保证了应用程序的稳定性，除非应用需求本身发生变化，否则应用程序一般不需要修改 </a:t>
            </a:r>
            <a:endParaRPr lang="en-US" altLang="zh-CN" dirty="0"/>
          </a:p>
          <a:p>
            <a:pPr eaLnBrk="1" hangingPunct="1">
              <a:lnSpc>
                <a:spcPct val="110000"/>
              </a:lnSpc>
              <a:spcBef>
                <a:spcPts val="2000"/>
              </a:spcBef>
            </a:pPr>
            <a:r>
              <a:rPr lang="zh-CN" altLang="en-US" dirty="0"/>
              <a:t>数据与程序之间的独立性，使得数据的定义和描述可以从应用程序中分离出去 </a:t>
            </a:r>
            <a:endParaRPr lang="zh-CN" altLang="en-US" sz="2400" dirty="0"/>
          </a:p>
          <a:p>
            <a:pPr eaLnBrk="1" hangingPunct="1">
              <a:lnSpc>
                <a:spcPct val="110000"/>
              </a:lnSpc>
              <a:spcBef>
                <a:spcPts val="2000"/>
              </a:spcBef>
            </a:pPr>
            <a:r>
              <a:rPr lang="zh-CN" altLang="en-US" dirty="0"/>
              <a:t>数据的存取由数据库管理系统管理</a:t>
            </a:r>
            <a:endParaRPr lang="zh-CN" altLang="en-US" dirty="0"/>
          </a:p>
          <a:p>
            <a:pPr lvl="1" eaLnBrk="1" hangingPunct="1">
              <a:lnSpc>
                <a:spcPct val="110000"/>
              </a:lnSpc>
              <a:spcBef>
                <a:spcPct val="0"/>
              </a:spcBef>
            </a:pPr>
            <a:r>
              <a:rPr lang="zh-CN" altLang="en-US" dirty="0"/>
              <a:t>简化了应用程序的编制</a:t>
            </a:r>
            <a:endParaRPr lang="zh-CN" altLang="en-US" dirty="0"/>
          </a:p>
          <a:p>
            <a:pPr lvl="1" eaLnBrk="1" hangingPunct="1">
              <a:lnSpc>
                <a:spcPct val="110000"/>
              </a:lnSpc>
              <a:spcBef>
                <a:spcPct val="0"/>
              </a:spcBef>
            </a:pPr>
            <a:r>
              <a:rPr lang="zh-CN" altLang="en-US" dirty="0"/>
              <a:t>大大减少了应用程序的维护和修改 </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b="1">
                <a:solidFill>
                  <a:schemeClr val="tx1"/>
                </a:solidFill>
                <a:latin typeface="楷体" panose="02010609060101010101" charset="-122"/>
                <a:ea typeface="楷体" panose="02010609060101010101" charset="-122"/>
                <a:cs typeface="楷体" panose="02010609060101010101" charset="-122"/>
                <a:sym typeface="+mn-ea"/>
              </a:rPr>
              <a:t>三级模式与</a:t>
            </a:r>
            <a:r>
              <a:rPr lang="en-US" altLang="zh-CN" b="1">
                <a:solidFill>
                  <a:schemeClr val="tx1"/>
                </a:solidFill>
                <a:latin typeface="楷体" panose="02010609060101010101" charset="-122"/>
                <a:ea typeface="楷体" panose="02010609060101010101" charset="-122"/>
                <a:cs typeface="楷体" panose="02010609060101010101" charset="-122"/>
                <a:sym typeface="+mn-ea"/>
              </a:rPr>
              <a:t> DBMS</a:t>
            </a:r>
            <a:r>
              <a:rPr lang="zh-CN" altLang="en-US" b="1">
                <a:solidFill>
                  <a:schemeClr val="tx1"/>
                </a:solidFill>
                <a:latin typeface="楷体" panose="02010609060101010101" charset="-122"/>
                <a:ea typeface="楷体" panose="02010609060101010101" charset="-122"/>
                <a:cs typeface="楷体" panose="02010609060101010101" charset="-122"/>
                <a:sym typeface="+mn-ea"/>
              </a:rPr>
              <a:t>、应用程序之间的关系</a:t>
            </a:r>
            <a:endParaRPr lang="zh-CN" altLang="en-US" b="1">
              <a:solidFill>
                <a:schemeClr val="tx1"/>
              </a:solidFill>
              <a:latin typeface="楷体" panose="02010609060101010101" charset="-122"/>
              <a:ea typeface="楷体" panose="02010609060101010101" charset="-122"/>
              <a:cs typeface="楷体" panose="02010609060101010101" charset="-122"/>
              <a:sym typeface="+mn-ea"/>
            </a:endParaRPr>
          </a:p>
        </p:txBody>
      </p:sp>
      <p:pic>
        <p:nvPicPr>
          <p:cNvPr id="51201" name="图片 47105"/>
          <p:cNvPicPr>
            <a:picLocks noChangeAspect="1"/>
          </p:cNvPicPr>
          <p:nvPr/>
        </p:nvPicPr>
        <p:blipFill>
          <a:blip r:embed="rId1"/>
          <a:stretch>
            <a:fillRect/>
          </a:stretch>
        </p:blipFill>
        <p:spPr>
          <a:xfrm>
            <a:off x="2138045" y="639445"/>
            <a:ext cx="8349615" cy="6242685"/>
          </a:xfrm>
          <a:prstGeom prst="rect">
            <a:avLst/>
          </a:prstGeom>
          <a:noFill/>
          <a:ln w="9525">
            <a:noFill/>
          </a:ln>
        </p:spPr>
      </p:pic>
      <p:sp>
        <p:nvSpPr>
          <p:cNvPr id="4" name="灯片编号占位符 3"/>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9" name="Rectangle 2"/>
          <p:cNvSpPr>
            <a:spLocks noGrp="1"/>
          </p:cNvSpPr>
          <p:nvPr>
            <p:ph type="title"/>
          </p:nvPr>
        </p:nvSpPr>
        <p:spPr/>
        <p:txBody>
          <a:bodyPr wrap="square" tIns="0" bIns="0" anchor="ctr"/>
          <a:p>
            <a:pPr eaLnBrk="1" hangingPunct="1"/>
            <a:r>
              <a:rPr lang="en-US" altLang="zh-CN"/>
              <a:t>1.3  数据库</a:t>
            </a:r>
            <a:r>
              <a:rPr lang="zh-CN" altLang="en-US"/>
              <a:t>系统</a:t>
            </a:r>
            <a:r>
              <a:rPr lang="en-US" altLang="zh-CN"/>
              <a:t>的</a:t>
            </a:r>
            <a:r>
              <a:rPr lang="zh-CN" altLang="en-US"/>
              <a:t>结构</a:t>
            </a:r>
            <a:endParaRPr lang="zh-CN" altLang="en-US"/>
          </a:p>
        </p:txBody>
      </p:sp>
      <p:sp>
        <p:nvSpPr>
          <p:cNvPr id="18437" name="Rectangle 3"/>
          <p:cNvSpPr>
            <a:spLocks noGrp="1"/>
          </p:cNvSpPr>
          <p:nvPr>
            <p:ph idx="1"/>
          </p:nvPr>
        </p:nvSpPr>
        <p:spPr/>
        <p:txBody>
          <a:bodyPr wrap="square" anchor="t"/>
          <a:p>
            <a:pPr eaLnBrk="1" hangingPunct="1"/>
            <a:r>
              <a:rPr lang="zh-CN" altLang="en-US" sz="3000" dirty="0">
                <a:sym typeface="+mn-ea"/>
              </a:rPr>
              <a:t>从数据库最终用户角度看，数据库系统的结构分为</a:t>
            </a:r>
            <a:r>
              <a:rPr lang="en-US" altLang="zh-CN" sz="3000" dirty="0">
                <a:sym typeface="+mn-ea"/>
              </a:rPr>
              <a:t>:</a:t>
            </a:r>
            <a:endParaRPr lang="en-US" altLang="zh-CN" sz="3000" dirty="0"/>
          </a:p>
          <a:p>
            <a:pPr lvl="1">
              <a:lnSpc>
                <a:spcPct val="110000"/>
              </a:lnSpc>
              <a:spcBef>
                <a:spcPts val="1000"/>
              </a:spcBef>
            </a:pPr>
            <a:r>
              <a:rPr lang="zh-CN" altLang="en-US" sz="3000" dirty="0">
                <a:sym typeface="+mn-ea"/>
              </a:rPr>
              <a:t>单用户结构</a:t>
            </a:r>
            <a:endParaRPr lang="zh-CN" altLang="en-US" sz="3000" dirty="0"/>
          </a:p>
          <a:p>
            <a:pPr lvl="1">
              <a:lnSpc>
                <a:spcPct val="110000"/>
              </a:lnSpc>
              <a:spcBef>
                <a:spcPts val="1000"/>
              </a:spcBef>
            </a:pPr>
            <a:r>
              <a:rPr lang="zh-CN" altLang="en-US" sz="3000" dirty="0">
                <a:sym typeface="+mn-ea"/>
              </a:rPr>
              <a:t>主从式结构</a:t>
            </a:r>
            <a:endParaRPr lang="zh-CN" altLang="en-US" sz="3000" dirty="0"/>
          </a:p>
          <a:p>
            <a:pPr lvl="1">
              <a:lnSpc>
                <a:spcPct val="110000"/>
              </a:lnSpc>
              <a:spcBef>
                <a:spcPts val="1000"/>
              </a:spcBef>
            </a:pPr>
            <a:r>
              <a:rPr lang="zh-CN" altLang="en-US" sz="3000" dirty="0">
                <a:solidFill>
                  <a:srgbClr val="FF0000"/>
                </a:solidFill>
                <a:sym typeface="+mn-ea"/>
              </a:rPr>
              <a:t>分布式结构</a:t>
            </a:r>
            <a:endParaRPr lang="zh-CN" altLang="en-US" sz="3000" dirty="0">
              <a:solidFill>
                <a:srgbClr val="FF0000"/>
              </a:solidFill>
            </a:endParaRPr>
          </a:p>
          <a:p>
            <a:pPr lvl="1">
              <a:lnSpc>
                <a:spcPct val="110000"/>
              </a:lnSpc>
              <a:spcBef>
                <a:spcPts val="1000"/>
              </a:spcBef>
            </a:pPr>
            <a:r>
              <a:rPr lang="zh-CN" altLang="en-US" sz="3000" dirty="0">
                <a:solidFill>
                  <a:srgbClr val="FF0000"/>
                </a:solidFill>
                <a:sym typeface="+mn-ea"/>
              </a:rPr>
              <a:t>客户</a:t>
            </a:r>
            <a:r>
              <a:rPr lang="en-US" altLang="zh-CN" sz="3000" dirty="0">
                <a:solidFill>
                  <a:srgbClr val="FF0000"/>
                </a:solidFill>
                <a:sym typeface="+mn-ea"/>
              </a:rPr>
              <a:t>-</a:t>
            </a:r>
            <a:r>
              <a:rPr lang="zh-CN" altLang="en-US" sz="3000" dirty="0">
                <a:solidFill>
                  <a:srgbClr val="FF0000"/>
                </a:solidFill>
                <a:sym typeface="+mn-ea"/>
              </a:rPr>
              <a:t>服务器</a:t>
            </a:r>
            <a:endParaRPr lang="zh-CN" altLang="en-US" sz="3000" dirty="0">
              <a:solidFill>
                <a:srgbClr val="FF0000"/>
              </a:solidFill>
            </a:endParaRPr>
          </a:p>
          <a:p>
            <a:pPr lvl="1">
              <a:lnSpc>
                <a:spcPct val="110000"/>
              </a:lnSpc>
              <a:spcBef>
                <a:spcPts val="1000"/>
              </a:spcBef>
            </a:pPr>
            <a:r>
              <a:rPr lang="zh-CN" altLang="en-US" sz="3000" dirty="0">
                <a:solidFill>
                  <a:srgbClr val="FF0000"/>
                </a:solidFill>
                <a:sym typeface="+mn-ea"/>
              </a:rPr>
              <a:t>浏览器</a:t>
            </a:r>
            <a:r>
              <a:rPr lang="en-US" altLang="zh-CN" sz="3000" dirty="0">
                <a:solidFill>
                  <a:srgbClr val="FF0000"/>
                </a:solidFill>
                <a:sym typeface="+mn-ea"/>
              </a:rPr>
              <a:t>-</a:t>
            </a:r>
            <a:r>
              <a:rPr lang="zh-CN" altLang="en-US" sz="3000" dirty="0">
                <a:solidFill>
                  <a:srgbClr val="FF0000"/>
                </a:solidFill>
                <a:sym typeface="+mn-ea"/>
              </a:rPr>
              <a:t>应用服务器／数据库服务器多层结构等</a:t>
            </a:r>
            <a:endParaRPr lang="zh-CN" altLang="en-US" dirty="0">
              <a:solidFill>
                <a:schemeClr val="tx1"/>
              </a:solidFill>
              <a:latin typeface="Arial" panose="020B0604020202020204" pitchFamily="34" charset="0"/>
              <a:ea typeface="宋体" panose="02010600030101010101" pitchFamily="2" charset="-122"/>
              <a:sym typeface="+mn-ea"/>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a:xfrm>
            <a:off x="0" y="6695365"/>
            <a:ext cx="4114800" cy="153670"/>
          </a:xfrm>
        </p:spPr>
        <p:txBody>
          <a:bodyPr/>
          <a:p>
            <a:r>
              <a:rPr lang="zh-CN" altLang="en-US"/>
              <a:t>ch01_绪论</a:t>
            </a:r>
            <a:endParaRPr lang="zh-CN" alt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7" name="Rectangle 2"/>
          <p:cNvSpPr>
            <a:spLocks noGrp="1"/>
          </p:cNvSpPr>
          <p:nvPr>
            <p:ph type="title"/>
          </p:nvPr>
        </p:nvSpPr>
        <p:spPr/>
        <p:txBody>
          <a:bodyPr wrap="square" anchor="ctr"/>
          <a:p>
            <a:pPr eaLnBrk="1" hangingPunct="1"/>
            <a:r>
              <a:rPr lang="en-US" altLang="x-none" dirty="0">
                <a:ea typeface="宋体" panose="02010600030101010101" pitchFamily="2" charset="-122"/>
              </a:rPr>
              <a:t>Architecture of Database System</a:t>
            </a:r>
            <a:endParaRPr lang="en-US" altLang="x-none" dirty="0">
              <a:ea typeface="宋体" panose="02010600030101010101" pitchFamily="2" charset="-122"/>
            </a:endParaRPr>
          </a:p>
        </p:txBody>
      </p:sp>
      <p:graphicFrame>
        <p:nvGraphicFramePr>
          <p:cNvPr id="8200" name="Object 5"/>
          <p:cNvGraphicFramePr>
            <a:graphicFrameLocks noChangeAspect="1"/>
          </p:cNvGraphicFramePr>
          <p:nvPr/>
        </p:nvGraphicFramePr>
        <p:xfrm>
          <a:off x="4224338" y="4076700"/>
          <a:ext cx="4176712" cy="2089150"/>
        </p:xfrm>
        <a:graphic>
          <a:graphicData uri="http://schemas.openxmlformats.org/presentationml/2006/ole">
            <mc:AlternateContent xmlns:mc="http://schemas.openxmlformats.org/markup-compatibility/2006">
              <mc:Choice xmlns:v="urn:schemas-microsoft-com:vml" Requires="v">
                <p:oleObj spid="_x0000_s3076" name="" r:id="rId1" imgW="1905000" imgH="1619250" progId="Word.Picture.8">
                  <p:embed/>
                </p:oleObj>
              </mc:Choice>
              <mc:Fallback>
                <p:oleObj name="" r:id="rId1" imgW="1905000" imgH="1619250" progId="Word.Picture.8">
                  <p:embed/>
                  <p:pic>
                    <p:nvPicPr>
                      <p:cNvPr id="0" name="图片 3075"/>
                      <p:cNvPicPr/>
                      <p:nvPr/>
                    </p:nvPicPr>
                    <p:blipFill>
                      <a:blip r:embed="rId2"/>
                      <a:stretch>
                        <a:fillRect/>
                      </a:stretch>
                    </p:blipFill>
                    <p:spPr>
                      <a:xfrm>
                        <a:off x="4224338" y="4076700"/>
                        <a:ext cx="4176712" cy="2089150"/>
                      </a:xfrm>
                      <a:prstGeom prst="rect">
                        <a:avLst/>
                      </a:prstGeom>
                      <a:noFill/>
                      <a:ln w="38100">
                        <a:noFill/>
                        <a:miter/>
                      </a:ln>
                    </p:spPr>
                  </p:pic>
                </p:oleObj>
              </mc:Fallback>
            </mc:AlternateContent>
          </a:graphicData>
        </a:graphic>
      </p:graphicFrame>
      <p:grpSp>
        <p:nvGrpSpPr>
          <p:cNvPr id="8201" name="组合 8200"/>
          <p:cNvGrpSpPr/>
          <p:nvPr/>
        </p:nvGrpSpPr>
        <p:grpSpPr>
          <a:xfrm>
            <a:off x="1774825" y="2636838"/>
            <a:ext cx="8281988" cy="647700"/>
            <a:chOff x="0" y="0"/>
            <a:chExt cx="5217" cy="408"/>
          </a:xfrm>
        </p:grpSpPr>
        <p:sp>
          <p:nvSpPr>
            <p:cNvPr id="2" name="Line 13"/>
            <p:cNvSpPr/>
            <p:nvPr/>
          </p:nvSpPr>
          <p:spPr>
            <a:xfrm>
              <a:off x="46" y="45"/>
              <a:ext cx="5171" cy="0"/>
            </a:xfrm>
            <a:prstGeom prst="line">
              <a:avLst/>
            </a:prstGeom>
            <a:ln w="38100" cap="flat" cmpd="sng">
              <a:solidFill>
                <a:srgbClr val="0000FF"/>
              </a:solidFill>
              <a:prstDash val="solid"/>
              <a:round/>
              <a:headEnd type="none" w="med" len="med"/>
              <a:tailEnd type="none" w="med" len="med"/>
            </a:ln>
          </p:spPr>
        </p:sp>
        <p:sp>
          <p:nvSpPr>
            <p:cNvPr id="3" name="Line 23"/>
            <p:cNvSpPr/>
            <p:nvPr/>
          </p:nvSpPr>
          <p:spPr>
            <a:xfrm>
              <a:off x="2858" y="45"/>
              <a:ext cx="0" cy="363"/>
            </a:xfrm>
            <a:prstGeom prst="line">
              <a:avLst/>
            </a:prstGeom>
            <a:ln w="25400" cap="flat" cmpd="sng">
              <a:solidFill>
                <a:schemeClr val="tx1"/>
              </a:solidFill>
              <a:prstDash val="solid"/>
              <a:round/>
              <a:headEnd type="none" w="med" len="med"/>
              <a:tailEnd type="none" w="med" len="med"/>
            </a:ln>
          </p:spPr>
        </p:sp>
        <p:sp>
          <p:nvSpPr>
            <p:cNvPr id="8202" name="Text Box 24"/>
            <p:cNvSpPr txBox="1"/>
            <p:nvPr/>
          </p:nvSpPr>
          <p:spPr>
            <a:xfrm>
              <a:off x="0" y="0"/>
              <a:ext cx="1714" cy="329"/>
            </a:xfrm>
            <a:prstGeom prst="rect">
              <a:avLst/>
            </a:prstGeom>
            <a:noFill/>
            <a:ln w="9525">
              <a:noFill/>
            </a:ln>
          </p:spPr>
          <p:txBody>
            <a:bodyPr anchor="t">
              <a:spAutoFit/>
            </a:bodyPr>
            <a:p>
              <a:pPr algn="ctr">
                <a:spcBef>
                  <a:spcPct val="50000"/>
                </a:spcBef>
              </a:pPr>
              <a:r>
                <a:rPr lang="en-US" altLang="x-none" sz="2800" dirty="0">
                  <a:latin typeface="Arial" panose="020B0604020202020204" pitchFamily="34" charset="0"/>
                  <a:ea typeface="宋体" panose="02010600030101010101" pitchFamily="2" charset="-122"/>
                </a:rPr>
                <a:t>Internet/Intranet</a:t>
              </a:r>
              <a:endParaRPr lang="en-US" altLang="x-none" sz="2800" dirty="0">
                <a:latin typeface="Arial" panose="020B0604020202020204" pitchFamily="34" charset="0"/>
                <a:ea typeface="宋体" panose="02010600030101010101" pitchFamily="2" charset="-122"/>
              </a:endParaRPr>
            </a:p>
          </p:txBody>
        </p:sp>
      </p:grpSp>
      <p:grpSp>
        <p:nvGrpSpPr>
          <p:cNvPr id="8216" name="组合 8215"/>
          <p:cNvGrpSpPr/>
          <p:nvPr/>
        </p:nvGrpSpPr>
        <p:grpSpPr>
          <a:xfrm>
            <a:off x="3287713" y="3284538"/>
            <a:ext cx="6048375" cy="1008062"/>
            <a:chOff x="0" y="0"/>
            <a:chExt cx="3810" cy="635"/>
          </a:xfrm>
        </p:grpSpPr>
        <p:sp>
          <p:nvSpPr>
            <p:cNvPr id="8204" name="Text Box 6"/>
            <p:cNvSpPr txBox="1"/>
            <p:nvPr/>
          </p:nvSpPr>
          <p:spPr>
            <a:xfrm>
              <a:off x="0" y="0"/>
              <a:ext cx="3810" cy="329"/>
            </a:xfrm>
            <a:prstGeom prst="rect">
              <a:avLst/>
            </a:prstGeom>
            <a:solidFill>
              <a:srgbClr val="FFFFFF"/>
            </a:solidFill>
            <a:ln w="19050" cap="flat" cmpd="sng">
              <a:solidFill>
                <a:schemeClr val="tx1"/>
              </a:solidFill>
              <a:prstDash val="solid"/>
              <a:miter/>
              <a:headEnd type="none" w="med" len="med"/>
              <a:tailEnd type="none" w="med" len="med"/>
            </a:ln>
          </p:spPr>
          <p:txBody>
            <a:bodyPr anchor="t">
              <a:spAutoFit/>
            </a:bodyPr>
            <a:p>
              <a:pPr algn="ctr">
                <a:spcBef>
                  <a:spcPct val="50000"/>
                </a:spcBef>
              </a:pPr>
              <a:r>
                <a:rPr lang="en-US" altLang="x-none" sz="2800" b="1" dirty="0">
                  <a:latin typeface="Arial" panose="020B0604020202020204" pitchFamily="34" charset="0"/>
                  <a:ea typeface="宋体" panose="02010600030101010101" pitchFamily="2" charset="-122"/>
                </a:rPr>
                <a:t>Database Management System</a:t>
              </a:r>
              <a:endParaRPr lang="en-US" altLang="x-none" sz="2800" b="1" dirty="0">
                <a:latin typeface="Arial" panose="020B0604020202020204" pitchFamily="34" charset="0"/>
                <a:ea typeface="宋体" panose="02010600030101010101" pitchFamily="2" charset="-122"/>
              </a:endParaRPr>
            </a:p>
          </p:txBody>
        </p:sp>
        <p:sp>
          <p:nvSpPr>
            <p:cNvPr id="8205" name="Line 28"/>
            <p:cNvSpPr/>
            <p:nvPr/>
          </p:nvSpPr>
          <p:spPr>
            <a:xfrm>
              <a:off x="1905" y="347"/>
              <a:ext cx="0" cy="288"/>
            </a:xfrm>
            <a:prstGeom prst="line">
              <a:avLst/>
            </a:prstGeom>
            <a:ln w="25400" cap="flat" cmpd="sng">
              <a:solidFill>
                <a:schemeClr val="tx1"/>
              </a:solidFill>
              <a:prstDash val="solid"/>
              <a:round/>
              <a:headEnd type="none" w="med" len="med"/>
              <a:tailEnd type="none" w="med" len="med"/>
            </a:ln>
          </p:spPr>
        </p:sp>
      </p:grpSp>
      <p:grpSp>
        <p:nvGrpSpPr>
          <p:cNvPr id="7" name="组合 6"/>
          <p:cNvGrpSpPr/>
          <p:nvPr/>
        </p:nvGrpSpPr>
        <p:grpSpPr>
          <a:xfrm>
            <a:off x="2263775" y="765175"/>
            <a:ext cx="5067300" cy="1947863"/>
            <a:chOff x="600" y="1205"/>
            <a:chExt cx="7980" cy="3067"/>
          </a:xfrm>
        </p:grpSpPr>
        <p:grpSp>
          <p:nvGrpSpPr>
            <p:cNvPr id="8208" name="组合 8204"/>
            <p:cNvGrpSpPr/>
            <p:nvPr/>
          </p:nvGrpSpPr>
          <p:grpSpPr>
            <a:xfrm>
              <a:off x="1250" y="1205"/>
              <a:ext cx="7329" cy="3067"/>
              <a:chOff x="-21" y="0"/>
              <a:chExt cx="2932" cy="1227"/>
            </a:xfrm>
          </p:grpSpPr>
          <p:sp>
            <p:nvSpPr>
              <p:cNvPr id="8209" name="Line 18"/>
              <p:cNvSpPr/>
              <p:nvPr/>
            </p:nvSpPr>
            <p:spPr>
              <a:xfrm>
                <a:off x="-21" y="840"/>
                <a:ext cx="0" cy="384"/>
              </a:xfrm>
              <a:prstGeom prst="line">
                <a:avLst/>
              </a:prstGeom>
              <a:ln w="25400" cap="flat" cmpd="sng">
                <a:solidFill>
                  <a:schemeClr val="tx1"/>
                </a:solidFill>
                <a:prstDash val="solid"/>
                <a:round/>
                <a:headEnd type="none" w="med" len="med"/>
                <a:tailEnd type="none" w="med" len="med"/>
              </a:ln>
            </p:spPr>
          </p:sp>
          <p:sp>
            <p:nvSpPr>
              <p:cNvPr id="8210" name="Line 22"/>
              <p:cNvSpPr/>
              <p:nvPr/>
            </p:nvSpPr>
            <p:spPr>
              <a:xfrm>
                <a:off x="1381" y="843"/>
                <a:ext cx="0" cy="384"/>
              </a:xfrm>
              <a:prstGeom prst="line">
                <a:avLst/>
              </a:prstGeom>
              <a:ln w="25400" cap="flat" cmpd="sng">
                <a:solidFill>
                  <a:schemeClr val="tx1"/>
                </a:solidFill>
                <a:prstDash val="solid"/>
                <a:round/>
                <a:headEnd type="none" w="med" len="med"/>
                <a:tailEnd type="none" w="med" len="med"/>
              </a:ln>
            </p:spPr>
          </p:sp>
          <p:sp>
            <p:nvSpPr>
              <p:cNvPr id="8211" name="Line 25"/>
              <p:cNvSpPr/>
              <p:nvPr/>
            </p:nvSpPr>
            <p:spPr>
              <a:xfrm>
                <a:off x="2039" y="576"/>
                <a:ext cx="872" cy="14"/>
              </a:xfrm>
              <a:prstGeom prst="line">
                <a:avLst/>
              </a:prstGeom>
              <a:ln w="38100" cap="rnd" cmpd="sng">
                <a:solidFill>
                  <a:schemeClr val="tx1"/>
                </a:solidFill>
                <a:prstDash val="sysDot"/>
                <a:round/>
                <a:headEnd type="none" w="med" len="med"/>
                <a:tailEnd type="none" w="med" len="med"/>
              </a:ln>
            </p:spPr>
          </p:sp>
          <p:sp>
            <p:nvSpPr>
              <p:cNvPr id="8212" name="Text Box 26"/>
              <p:cNvSpPr txBox="1"/>
              <p:nvPr/>
            </p:nvSpPr>
            <p:spPr>
              <a:xfrm>
                <a:off x="355" y="0"/>
                <a:ext cx="1324" cy="329"/>
              </a:xfrm>
              <a:prstGeom prst="rect">
                <a:avLst/>
              </a:prstGeom>
              <a:noFill/>
              <a:ln w="9525">
                <a:noFill/>
              </a:ln>
            </p:spPr>
            <p:txBody>
              <a:bodyPr anchor="t">
                <a:spAutoFit/>
              </a:bodyPr>
              <a:p>
                <a:pPr algn="ctr">
                  <a:spcBef>
                    <a:spcPct val="50000"/>
                  </a:spcBef>
                </a:pPr>
                <a:r>
                  <a:rPr lang="en-US" altLang="x-none" sz="2800" b="1" dirty="0">
                    <a:solidFill>
                      <a:schemeClr val="accent2"/>
                    </a:solidFill>
                    <a:latin typeface="Arial" panose="020B0604020202020204" pitchFamily="34" charset="0"/>
                    <a:ea typeface="宋体" panose="02010600030101010101" pitchFamily="2" charset="-122"/>
                  </a:rPr>
                  <a:t>End Users</a:t>
                </a:r>
                <a:endParaRPr lang="en-US" altLang="x-none" sz="2800" b="1" dirty="0">
                  <a:solidFill>
                    <a:schemeClr val="accent2"/>
                  </a:solidFill>
                  <a:latin typeface="Arial" panose="020B0604020202020204" pitchFamily="34" charset="0"/>
                  <a:ea typeface="宋体" panose="02010600030101010101" pitchFamily="2" charset="-122"/>
                </a:endParaRPr>
              </a:p>
            </p:txBody>
          </p:sp>
        </p:grpSp>
        <p:pic>
          <p:nvPicPr>
            <p:cNvPr id="8213" name="图片 2" descr="A000220150320H68PPIC"/>
            <p:cNvPicPr>
              <a:picLocks noChangeAspect="1"/>
            </p:cNvPicPr>
            <p:nvPr/>
          </p:nvPicPr>
          <p:blipFill>
            <a:blip r:embed="rId3"/>
            <a:stretch>
              <a:fillRect/>
            </a:stretch>
          </p:blipFill>
          <p:spPr>
            <a:xfrm>
              <a:off x="2416" y="1963"/>
              <a:ext cx="1024" cy="1417"/>
            </a:xfrm>
            <a:prstGeom prst="rect">
              <a:avLst/>
            </a:prstGeom>
            <a:noFill/>
            <a:ln w="9525">
              <a:noFill/>
            </a:ln>
          </p:spPr>
        </p:pic>
        <p:pic>
          <p:nvPicPr>
            <p:cNvPr id="8214" name="图片 3" descr="A000220150318D09PPIC"/>
            <p:cNvPicPr>
              <a:picLocks noChangeAspect="1"/>
            </p:cNvPicPr>
            <p:nvPr/>
          </p:nvPicPr>
          <p:blipFill>
            <a:blip r:embed="rId4"/>
            <a:stretch>
              <a:fillRect/>
            </a:stretch>
          </p:blipFill>
          <p:spPr>
            <a:xfrm>
              <a:off x="600" y="1963"/>
              <a:ext cx="1206" cy="1417"/>
            </a:xfrm>
            <a:prstGeom prst="rect">
              <a:avLst/>
            </a:prstGeom>
            <a:noFill/>
            <a:ln w="9525">
              <a:noFill/>
            </a:ln>
          </p:spPr>
        </p:pic>
        <p:pic>
          <p:nvPicPr>
            <p:cNvPr id="8215" name="图片 4"/>
            <p:cNvPicPr>
              <a:picLocks noChangeAspect="1"/>
            </p:cNvPicPr>
            <p:nvPr/>
          </p:nvPicPr>
          <p:blipFill>
            <a:blip r:embed="rId5"/>
            <a:stretch>
              <a:fillRect/>
            </a:stretch>
          </p:blipFill>
          <p:spPr>
            <a:xfrm>
              <a:off x="4052" y="1963"/>
              <a:ext cx="1475" cy="1417"/>
            </a:xfrm>
            <a:prstGeom prst="rect">
              <a:avLst/>
            </a:prstGeom>
            <a:noFill/>
            <a:ln w="9525">
              <a:noFill/>
            </a:ln>
          </p:spPr>
        </p:pic>
      </p:grpSp>
      <p:grpSp>
        <p:nvGrpSpPr>
          <p:cNvPr id="8" name="组合 7"/>
          <p:cNvGrpSpPr/>
          <p:nvPr/>
        </p:nvGrpSpPr>
        <p:grpSpPr>
          <a:xfrm>
            <a:off x="7966075" y="822325"/>
            <a:ext cx="1524000" cy="1914525"/>
            <a:chOff x="9240" y="1295"/>
            <a:chExt cx="2400" cy="3014"/>
          </a:xfrm>
        </p:grpSpPr>
        <p:grpSp>
          <p:nvGrpSpPr>
            <p:cNvPr id="8217" name="组合 8211"/>
            <p:cNvGrpSpPr/>
            <p:nvPr/>
          </p:nvGrpSpPr>
          <p:grpSpPr>
            <a:xfrm>
              <a:off x="9240" y="1295"/>
              <a:ext cx="2400" cy="3015"/>
              <a:chOff x="0" y="0"/>
              <a:chExt cx="960" cy="1206"/>
            </a:xfrm>
          </p:grpSpPr>
          <p:sp>
            <p:nvSpPr>
              <p:cNvPr id="8218" name="Line 20"/>
              <p:cNvSpPr/>
              <p:nvPr/>
            </p:nvSpPr>
            <p:spPr>
              <a:xfrm>
                <a:off x="480" y="822"/>
                <a:ext cx="0" cy="384"/>
              </a:xfrm>
              <a:prstGeom prst="line">
                <a:avLst/>
              </a:prstGeom>
              <a:ln w="25400" cap="flat" cmpd="sng">
                <a:solidFill>
                  <a:schemeClr val="tx1"/>
                </a:solidFill>
                <a:prstDash val="solid"/>
                <a:round/>
                <a:headEnd type="none" w="med" len="med"/>
                <a:tailEnd type="none" w="med" len="med"/>
              </a:ln>
            </p:spPr>
          </p:sp>
          <p:sp>
            <p:nvSpPr>
              <p:cNvPr id="8219" name="Text Box 27"/>
              <p:cNvSpPr txBox="1"/>
              <p:nvPr/>
            </p:nvSpPr>
            <p:spPr>
              <a:xfrm>
                <a:off x="0" y="0"/>
                <a:ext cx="960" cy="329"/>
              </a:xfrm>
              <a:prstGeom prst="rect">
                <a:avLst/>
              </a:prstGeom>
              <a:noFill/>
              <a:ln w="9525">
                <a:noFill/>
              </a:ln>
            </p:spPr>
            <p:txBody>
              <a:bodyPr anchor="t">
                <a:spAutoFit/>
              </a:bodyPr>
              <a:p>
                <a:pPr algn="ctr">
                  <a:spcBef>
                    <a:spcPct val="50000"/>
                  </a:spcBef>
                </a:pPr>
                <a:r>
                  <a:rPr lang="en-US" altLang="x-none" sz="2800" b="1" dirty="0">
                    <a:solidFill>
                      <a:schemeClr val="accent2"/>
                    </a:solidFill>
                    <a:latin typeface="Arial" panose="020B0604020202020204" pitchFamily="34" charset="0"/>
                    <a:ea typeface="宋体" panose="02010600030101010101" pitchFamily="2" charset="-122"/>
                  </a:rPr>
                  <a:t>DBAs</a:t>
                </a:r>
                <a:endParaRPr lang="en-US" altLang="x-none" sz="2800" b="1" dirty="0">
                  <a:solidFill>
                    <a:schemeClr val="accent2"/>
                  </a:solidFill>
                  <a:latin typeface="Arial" panose="020B0604020202020204" pitchFamily="34" charset="0"/>
                  <a:ea typeface="宋体" panose="02010600030101010101" pitchFamily="2" charset="-122"/>
                </a:endParaRPr>
              </a:p>
            </p:txBody>
          </p:sp>
        </p:grpSp>
        <p:pic>
          <p:nvPicPr>
            <p:cNvPr id="8220" name="图片 5"/>
            <p:cNvPicPr>
              <a:picLocks noChangeAspect="1"/>
            </p:cNvPicPr>
            <p:nvPr/>
          </p:nvPicPr>
          <p:blipFill>
            <a:blip r:embed="rId6"/>
            <a:stretch>
              <a:fillRect/>
            </a:stretch>
          </p:blipFill>
          <p:spPr>
            <a:xfrm>
              <a:off x="9560" y="2023"/>
              <a:ext cx="1760" cy="1417"/>
            </a:xfrm>
            <a:prstGeom prst="rect">
              <a:avLst/>
            </a:prstGeom>
            <a:noFill/>
            <a:ln w="9525">
              <a:noFill/>
            </a:ln>
          </p:spPr>
        </p:pic>
      </p:grpSp>
      <p:grpSp>
        <p:nvGrpSpPr>
          <p:cNvPr id="11" name="组合 10"/>
          <p:cNvGrpSpPr/>
          <p:nvPr/>
        </p:nvGrpSpPr>
        <p:grpSpPr>
          <a:xfrm>
            <a:off x="9607550" y="3068638"/>
            <a:ext cx="973455" cy="2951797"/>
            <a:chOff x="12529" y="4833"/>
            <a:chExt cx="1533" cy="4649"/>
          </a:xfrm>
        </p:grpSpPr>
        <p:sp>
          <p:nvSpPr>
            <p:cNvPr id="9" name="右大括号 8"/>
            <p:cNvSpPr/>
            <p:nvPr/>
          </p:nvSpPr>
          <p:spPr>
            <a:xfrm>
              <a:off x="12529" y="4833"/>
              <a:ext cx="454" cy="4649"/>
            </a:xfrm>
            <a:prstGeom prst="rightBrace">
              <a:avLst/>
            </a:prstGeom>
            <a:ln w="22225"/>
          </p:spPr>
          <p:style>
            <a:lnRef idx="1">
              <a:schemeClr val="dk1"/>
            </a:lnRef>
            <a:fillRef idx="0">
              <a:schemeClr val="dk1"/>
            </a:fillRef>
            <a:effectRef idx="0">
              <a:schemeClr val="dk1"/>
            </a:effectRef>
            <a:fontRef idx="minor">
              <a:schemeClr val="tx1"/>
            </a:fontRef>
          </p:style>
          <p:txBody>
            <a:bodyPr rtlCol="0" anchor="ctr"/>
            <a:p>
              <a:pPr algn="ctr" fontAlgn="base"/>
              <a:endParaRPr lang="zh-CN" altLang="en-US" strike="noStrike" noProof="1"/>
            </a:p>
          </p:txBody>
        </p:sp>
        <p:sp>
          <p:nvSpPr>
            <p:cNvPr id="8223" name="文本框 9"/>
            <p:cNvSpPr txBox="1"/>
            <p:nvPr/>
          </p:nvSpPr>
          <p:spPr>
            <a:xfrm>
              <a:off x="13237" y="5151"/>
              <a:ext cx="825" cy="4215"/>
            </a:xfrm>
            <a:prstGeom prst="rect">
              <a:avLst/>
            </a:prstGeom>
            <a:noFill/>
            <a:ln w="9525">
              <a:noFill/>
            </a:ln>
          </p:spPr>
          <p:txBody>
            <a:bodyPr wrap="square" anchor="t">
              <a:spAutoFit/>
            </a:bodyPr>
            <a:p>
              <a:r>
                <a:rPr lang="zh-CN" altLang="en-US" sz="2800" b="1">
                  <a:solidFill>
                    <a:srgbClr val="FF0000"/>
                  </a:solidFill>
                  <a:latin typeface="Times New Roman" panose="02020603050405020304" pitchFamily="2" charset="0"/>
                  <a:ea typeface="宋体" panose="02010600030101010101" pitchFamily="2" charset="-122"/>
                </a:rPr>
                <a:t>数据库服务器</a:t>
              </a:r>
              <a:endParaRPr lang="zh-CN" altLang="en-US" sz="2800" b="1">
                <a:solidFill>
                  <a:srgbClr val="FF0000"/>
                </a:solidFill>
                <a:latin typeface="Times New Roman" panose="02020603050405020304" pitchFamily="2" charset="0"/>
                <a:ea typeface="宋体" panose="02010600030101010101" pitchFamily="2" charset="-122"/>
              </a:endParaRPr>
            </a:p>
          </p:txBody>
        </p:sp>
      </p:grpSp>
      <p:grpSp>
        <p:nvGrpSpPr>
          <p:cNvPr id="4" name="组合 3"/>
          <p:cNvGrpSpPr/>
          <p:nvPr/>
        </p:nvGrpSpPr>
        <p:grpSpPr>
          <a:xfrm>
            <a:off x="9607550" y="595217"/>
            <a:ext cx="1041269" cy="2245357"/>
            <a:chOff x="12529" y="4389"/>
            <a:chExt cx="1641" cy="6214"/>
          </a:xfrm>
        </p:grpSpPr>
        <p:sp>
          <p:nvSpPr>
            <p:cNvPr id="5" name="右大括号 4"/>
            <p:cNvSpPr/>
            <p:nvPr/>
          </p:nvSpPr>
          <p:spPr>
            <a:xfrm>
              <a:off x="12529" y="4833"/>
              <a:ext cx="454" cy="4649"/>
            </a:xfrm>
            <a:prstGeom prst="rightBrace">
              <a:avLst/>
            </a:prstGeom>
            <a:ln w="22225"/>
          </p:spPr>
          <p:style>
            <a:lnRef idx="1">
              <a:schemeClr val="dk1"/>
            </a:lnRef>
            <a:fillRef idx="0">
              <a:schemeClr val="dk1"/>
            </a:fillRef>
            <a:effectRef idx="0">
              <a:schemeClr val="dk1"/>
            </a:effectRef>
            <a:fontRef idx="minor">
              <a:schemeClr val="tx1"/>
            </a:fontRef>
          </p:style>
          <p:txBody>
            <a:bodyPr rtlCol="0" anchor="ctr"/>
            <a:p>
              <a:pPr algn="ctr" fontAlgn="base"/>
              <a:endParaRPr lang="zh-CN" altLang="en-US" strike="noStrike" noProof="1"/>
            </a:p>
          </p:txBody>
        </p:sp>
        <p:sp>
          <p:nvSpPr>
            <p:cNvPr id="8226" name="文本框 9"/>
            <p:cNvSpPr txBox="1"/>
            <p:nvPr/>
          </p:nvSpPr>
          <p:spPr>
            <a:xfrm>
              <a:off x="13345" y="4389"/>
              <a:ext cx="825" cy="6214"/>
            </a:xfrm>
            <a:prstGeom prst="rect">
              <a:avLst/>
            </a:prstGeom>
            <a:noFill/>
            <a:ln w="9525">
              <a:noFill/>
            </a:ln>
          </p:spPr>
          <p:txBody>
            <a:bodyPr wrap="square" anchor="t">
              <a:spAutoFit/>
            </a:bodyPr>
            <a:p>
              <a:r>
                <a:rPr lang="zh-CN" altLang="en-US" sz="2800" b="1">
                  <a:solidFill>
                    <a:srgbClr val="FF0000"/>
                  </a:solidFill>
                  <a:latin typeface="Times New Roman" panose="02020603050405020304" pitchFamily="2" charset="0"/>
                  <a:ea typeface="宋体" panose="02010600030101010101" pitchFamily="2" charset="-122"/>
                </a:rPr>
                <a:t>数据库应用</a:t>
              </a:r>
              <a:endParaRPr lang="zh-CN" altLang="en-US" sz="2800" b="1">
                <a:solidFill>
                  <a:srgbClr val="FF0000"/>
                </a:solidFill>
                <a:latin typeface="Times New Roman" panose="02020603050405020304" pitchFamily="2" charset="0"/>
                <a:ea typeface="宋体" panose="02010600030101010101" pitchFamily="2" charset="-122"/>
              </a:endParaRPr>
            </a:p>
          </p:txBody>
        </p:sp>
      </p:grpSp>
      <p:sp>
        <p:nvSpPr>
          <p:cNvPr id="10" name="灯片编号占位符 9"/>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6" name="页脚占位符 5"/>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200"/>
                                        </p:tgtEl>
                                        <p:attrNameLst>
                                          <p:attrName>style.visibility</p:attrName>
                                        </p:attrNameLst>
                                      </p:cBhvr>
                                      <p:to>
                                        <p:strVal val="visible"/>
                                      </p:to>
                                    </p:set>
                                    <p:animEffect transition="in" filter="blinds(horizontal)">
                                      <p:cBhvr>
                                        <p:cTn id="7" dur="500"/>
                                        <p:tgtEl>
                                          <p:spTgt spid="8200"/>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 fill="hold" nodeType="clickEffect">
                                  <p:stCondLst>
                                    <p:cond delay="0"/>
                                  </p:stCondLst>
                                  <p:childTnLst>
                                    <p:set>
                                      <p:cBhvr>
                                        <p:cTn id="11" dur="1" fill="hold">
                                          <p:stCondLst>
                                            <p:cond delay="0"/>
                                          </p:stCondLst>
                                        </p:cTn>
                                        <p:tgtEl>
                                          <p:spTgt spid="8216"/>
                                        </p:tgtEl>
                                        <p:attrNameLst>
                                          <p:attrName>style.visibility</p:attrName>
                                        </p:attrNameLst>
                                      </p:cBhvr>
                                      <p:to>
                                        <p:strVal val="visible"/>
                                      </p:to>
                                    </p:set>
                                    <p:anim calcmode="lin" valueType="num">
                                      <p:cBhvr>
                                        <p:cTn id="12" dur="500" fill="hold"/>
                                        <p:tgtEl>
                                          <p:spTgt spid="8216"/>
                                        </p:tgtEl>
                                        <p:attrNameLst>
                                          <p:attrName>ppt_x</p:attrName>
                                        </p:attrNameLst>
                                      </p:cBhvr>
                                      <p:tavLst>
                                        <p:tav tm="0">
                                          <p:val>
                                            <p:strVal val="#ppt_x"/>
                                          </p:val>
                                        </p:tav>
                                        <p:tav tm="100000">
                                          <p:val>
                                            <p:strVal val="#ppt_x"/>
                                          </p:val>
                                        </p:tav>
                                      </p:tavLst>
                                    </p:anim>
                                    <p:anim calcmode="lin" valueType="num">
                                      <p:cBhvr>
                                        <p:cTn id="13" dur="500" fill="hold"/>
                                        <p:tgtEl>
                                          <p:spTgt spid="8216"/>
                                        </p:tgtEl>
                                        <p:attrNameLst>
                                          <p:attrName>ppt_y</p:attrName>
                                        </p:attrNameLst>
                                      </p:cBhvr>
                                      <p:tavLst>
                                        <p:tav tm="0">
                                          <p:val>
                                            <p:strVal val="#ppt_y-#ppt_h/2"/>
                                          </p:val>
                                        </p:tav>
                                        <p:tav tm="100000">
                                          <p:val>
                                            <p:strVal val="#ppt_y"/>
                                          </p:val>
                                        </p:tav>
                                      </p:tavLst>
                                    </p:anim>
                                    <p:anim calcmode="lin" valueType="num">
                                      <p:cBhvr>
                                        <p:cTn id="14" dur="500" fill="hold"/>
                                        <p:tgtEl>
                                          <p:spTgt spid="8216"/>
                                        </p:tgtEl>
                                        <p:attrNameLst>
                                          <p:attrName>ppt_w</p:attrName>
                                        </p:attrNameLst>
                                      </p:cBhvr>
                                      <p:tavLst>
                                        <p:tav tm="0">
                                          <p:val>
                                            <p:strVal val="#ppt_w"/>
                                          </p:val>
                                        </p:tav>
                                        <p:tav tm="100000">
                                          <p:val>
                                            <p:strVal val="#ppt_w"/>
                                          </p:val>
                                        </p:tav>
                                      </p:tavLst>
                                    </p:anim>
                                    <p:anim calcmode="lin" valueType="num">
                                      <p:cBhvr>
                                        <p:cTn id="15" dur="500" fill="hold"/>
                                        <p:tgtEl>
                                          <p:spTgt spid="8216"/>
                                        </p:tgtEl>
                                        <p:attrNameLst>
                                          <p:attrName>ppt_h</p:attrName>
                                        </p:attrNameLst>
                                      </p:cBhvr>
                                      <p:tavLst>
                                        <p:tav tm="0">
                                          <p:val>
                                            <p:fltVal val="0.00000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10" fill="hold" nodeType="clickEffect">
                                  <p:stCondLst>
                                    <p:cond delay="0"/>
                                  </p:stCondLst>
                                  <p:childTnLst>
                                    <p:set>
                                      <p:cBhvr>
                                        <p:cTn id="19" dur="1" fill="hold">
                                          <p:stCondLst>
                                            <p:cond delay="0"/>
                                          </p:stCondLst>
                                        </p:cTn>
                                        <p:tgtEl>
                                          <p:spTgt spid="8201"/>
                                        </p:tgtEl>
                                        <p:attrNameLst>
                                          <p:attrName>style.visibility</p:attrName>
                                        </p:attrNameLst>
                                      </p:cBhvr>
                                      <p:to>
                                        <p:strVal val="visible"/>
                                      </p:to>
                                    </p:set>
                                    <p:anim calcmode="lin" valueType="num">
                                      <p:cBhvr>
                                        <p:cTn id="20" dur="500" fill="hold"/>
                                        <p:tgtEl>
                                          <p:spTgt spid="8201"/>
                                        </p:tgtEl>
                                        <p:attrNameLst>
                                          <p:attrName>ppt_w</p:attrName>
                                        </p:attrNameLst>
                                      </p:cBhvr>
                                      <p:tavLst>
                                        <p:tav tm="0">
                                          <p:val>
                                            <p:fltVal val="0.000000"/>
                                          </p:val>
                                        </p:tav>
                                        <p:tav tm="100000">
                                          <p:val>
                                            <p:strVal val="#ppt_w"/>
                                          </p:val>
                                        </p:tav>
                                      </p:tavLst>
                                    </p:anim>
                                    <p:anim calcmode="lin" valueType="num">
                                      <p:cBhvr>
                                        <p:cTn id="21" dur="500" fill="hold"/>
                                        <p:tgtEl>
                                          <p:spTgt spid="8201"/>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linds(horizontal)">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blinds(horizontal)">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6" dur="500" fill="hold"/>
                                        <p:tgtEl>
                                          <p:spTgt spid="11"/>
                                        </p:tgtEl>
                                        <p:attrNameLst>
                                          <p:attrName>ppt_x</p:attrName>
                                        </p:attrNameLst>
                                      </p:cBhvr>
                                      <p:tavLst>
                                        <p:tav tm="0">
                                          <p:val>
                                            <p:strVal val="1+#ppt_w/2"/>
                                          </p:val>
                                        </p:tav>
                                        <p:tav tm="100000">
                                          <p:val>
                                            <p:strVal val="#ppt_x"/>
                                          </p:val>
                                        </p:tav>
                                      </p:tavLst>
                                    </p:anim>
                                    <p:anim calcmode="lin" valueType="num">
                                      <p:cBhvr additive="base">
                                        <p:cTn id="37"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p:cTn id="42" dur="500" fill="hold"/>
                                        <p:tgtEl>
                                          <p:spTgt spid="4"/>
                                        </p:tgtEl>
                                        <p:attrNameLst>
                                          <p:attrName>ppt_x</p:attrName>
                                        </p:attrNameLst>
                                      </p:cBhvr>
                                      <p:tavLst>
                                        <p:tav tm="0">
                                          <p:val>
                                            <p:strVal val="1+#ppt_w/2"/>
                                          </p:val>
                                        </p:tav>
                                        <p:tav tm="100000">
                                          <p:val>
                                            <p:strVal val="#ppt_x"/>
                                          </p:val>
                                        </p:tav>
                                      </p:tavLst>
                                    </p:anim>
                                    <p:anim calcmode="lin" valueType="num">
                                      <p:cBhvr>
                                        <p:cTn id="43"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20" name="Rectangle 2"/>
          <p:cNvSpPr>
            <a:spLocks noGrp="1"/>
          </p:cNvSpPr>
          <p:nvPr>
            <p:ph type="title"/>
          </p:nvPr>
        </p:nvSpPr>
        <p:spPr/>
        <p:txBody>
          <a:bodyPr wrap="square" anchor="ctr"/>
          <a:p>
            <a:pPr eaLnBrk="1" hangingPunct="1"/>
            <a:r>
              <a:rPr lang="en-US" altLang="zh-CN" sz="2800">
                <a:solidFill>
                  <a:schemeClr val="tx1"/>
                </a:solidFill>
              </a:rPr>
              <a:t>Two-tier Architechture   vs.  Three-tier Architechture</a:t>
            </a:r>
            <a:endParaRPr lang="en-US" altLang="zh-CN" sz="2800" dirty="0">
              <a:solidFill>
                <a:schemeClr val="tx1"/>
              </a:solidFill>
              <a:ea typeface="宋体" panose="02010600030101010101" pitchFamily="2" charset="-122"/>
            </a:endParaRPr>
          </a:p>
        </p:txBody>
      </p:sp>
      <p:sp>
        <p:nvSpPr>
          <p:cNvPr id="2" name="内容占位符 1"/>
          <p:cNvSpPr>
            <a:spLocks noGrp="1"/>
          </p:cNvSpPr>
          <p:nvPr>
            <p:ph idx="1"/>
          </p:nvPr>
        </p:nvSpPr>
        <p:spPr/>
        <p:txBody>
          <a:bodyPr/>
          <a:p>
            <a:pPr marL="342900" indent="-342900">
              <a:lnSpc>
                <a:spcPct val="100000"/>
              </a:lnSpc>
              <a:spcBef>
                <a:spcPts val="1000"/>
              </a:spcBef>
              <a:spcAft>
                <a:spcPts val="0"/>
              </a:spcAft>
              <a:buSzPct val="80000"/>
              <a:buFont typeface="Wingdings" panose="05000000000000000000" charset="0"/>
              <a:buChar char="l"/>
            </a:pPr>
            <a:r>
              <a:rPr lang="zh-CN" altLang="zh-CN" sz="2800">
                <a:cs typeface="楷体" panose="02010609060101010101" charset="-122"/>
                <a:sym typeface="+mn-ea"/>
              </a:rPr>
              <a:t>在两层</a:t>
            </a:r>
            <a:r>
              <a:rPr lang="en-US" altLang="zh-CN" sz="2800">
                <a:cs typeface="楷体" panose="02010609060101010101" charset="-122"/>
                <a:sym typeface="+mn-ea"/>
              </a:rPr>
              <a:t>C/S</a:t>
            </a:r>
            <a:r>
              <a:rPr lang="zh-CN" altLang="en-US" sz="2800">
                <a:cs typeface="楷体" panose="02010609060101010101" charset="-122"/>
                <a:sym typeface="+mn-ea"/>
              </a:rPr>
              <a:t>架构中，数据库和</a:t>
            </a:r>
            <a:r>
              <a:rPr lang="en-US" altLang="zh-CN" sz="2800">
                <a:cs typeface="楷体" panose="02010609060101010101" charset="-122"/>
                <a:sym typeface="+mn-ea"/>
              </a:rPr>
              <a:t>DBMS</a:t>
            </a:r>
            <a:r>
              <a:rPr lang="zh-CN" altLang="en-US" sz="2800">
                <a:cs typeface="楷体" panose="02010609060101010101" charset="-122"/>
                <a:sym typeface="+mn-ea"/>
              </a:rPr>
              <a:t>运行在数据库服务器中，数据库应用程序运行在客户机中</a:t>
            </a:r>
            <a:endParaRPr lang="zh-CN" altLang="en-US" sz="2800" b="1">
              <a:solidFill>
                <a:srgbClr val="1F2DA8"/>
              </a:solidFill>
              <a:latin typeface="楷体" panose="02010609060101010101" charset="-122"/>
              <a:ea typeface="楷体" panose="02010609060101010101" charset="-122"/>
              <a:cs typeface="楷体" panose="02010609060101010101" charset="-122"/>
            </a:endParaRPr>
          </a:p>
          <a:p>
            <a:pPr marL="342900" indent="-342900">
              <a:lnSpc>
                <a:spcPct val="100000"/>
              </a:lnSpc>
              <a:spcBef>
                <a:spcPts val="1000"/>
              </a:spcBef>
              <a:spcAft>
                <a:spcPts val="0"/>
              </a:spcAft>
              <a:buSzPct val="80000"/>
              <a:buFont typeface="Wingdings" panose="05000000000000000000" charset="0"/>
              <a:buChar char="l"/>
            </a:pPr>
            <a:r>
              <a:rPr lang="zh-CN" altLang="en-US" sz="2800">
                <a:cs typeface="楷体" panose="02010609060101010101" charset="-122"/>
                <a:sym typeface="+mn-ea"/>
              </a:rPr>
              <a:t>两者之间通过局域网实现数据访问</a:t>
            </a:r>
            <a:endParaRPr lang="zh-CN" altLang="en-US" sz="2800"/>
          </a:p>
        </p:txBody>
      </p:sp>
      <p:sp>
        <p:nvSpPr>
          <p:cNvPr id="9222" name="文本框 15"/>
          <p:cNvSpPr txBox="1"/>
          <p:nvPr/>
        </p:nvSpPr>
        <p:spPr>
          <a:xfrm>
            <a:off x="2419350" y="6109335"/>
            <a:ext cx="7350125" cy="521970"/>
          </a:xfrm>
          <a:prstGeom prst="rect">
            <a:avLst/>
          </a:prstGeom>
          <a:noFill/>
          <a:ln w="9525">
            <a:noFill/>
          </a:ln>
        </p:spPr>
        <p:txBody>
          <a:bodyPr wrap="square" anchor="t">
            <a:spAutoFit/>
          </a:bodyPr>
          <a:p>
            <a:pPr algn="ctr"/>
            <a:r>
              <a:rPr lang="zh-CN" altLang="en-US" sz="2800" b="1">
                <a:solidFill>
                  <a:schemeClr val="accent2"/>
                </a:solidFill>
                <a:latin typeface="楷体" panose="02010609060101010101" charset="-122"/>
                <a:ea typeface="楷体" panose="02010609060101010101" charset="-122"/>
                <a:cs typeface="楷体" panose="02010609060101010101" charset="-122"/>
              </a:rPr>
              <a:t>（</a:t>
            </a:r>
            <a:r>
              <a:rPr lang="zh-CN" altLang="en-US" sz="2800" b="1">
                <a:solidFill>
                  <a:srgbClr val="FF0000"/>
                </a:solidFill>
                <a:latin typeface="楷体" panose="02010609060101010101" charset="-122"/>
                <a:ea typeface="楷体" panose="02010609060101010101" charset="-122"/>
                <a:cs typeface="楷体" panose="02010609060101010101" charset="-122"/>
              </a:rPr>
              <a:t>两层客户</a:t>
            </a:r>
            <a:r>
              <a:rPr lang="en-US" altLang="zh-CN" sz="2800" b="1">
                <a:solidFill>
                  <a:srgbClr val="FF0000"/>
                </a:solidFill>
                <a:latin typeface="楷体" panose="02010609060101010101" charset="-122"/>
                <a:ea typeface="楷体" panose="02010609060101010101" charset="-122"/>
                <a:cs typeface="楷体" panose="02010609060101010101" charset="-122"/>
              </a:rPr>
              <a:t>-</a:t>
            </a:r>
            <a:r>
              <a:rPr lang="zh-CN" altLang="en-US" sz="2800" b="1">
                <a:solidFill>
                  <a:srgbClr val="FF0000"/>
                </a:solidFill>
                <a:latin typeface="楷体" panose="02010609060101010101" charset="-122"/>
                <a:ea typeface="楷体" panose="02010609060101010101" charset="-122"/>
                <a:cs typeface="楷体" panose="02010609060101010101" charset="-122"/>
              </a:rPr>
              <a:t>服务器架构</a:t>
            </a:r>
            <a:r>
              <a:rPr lang="zh-CN" altLang="en-US" sz="2800" b="1">
                <a:solidFill>
                  <a:schemeClr val="accent2"/>
                </a:solidFill>
                <a:latin typeface="楷体" panose="02010609060101010101" charset="-122"/>
                <a:ea typeface="楷体" panose="02010609060101010101" charset="-122"/>
                <a:cs typeface="楷体" panose="02010609060101010101" charset="-122"/>
              </a:rPr>
              <a:t>）</a:t>
            </a:r>
            <a:endParaRPr lang="zh-CN" altLang="en-US" sz="2800" b="1">
              <a:solidFill>
                <a:schemeClr val="accent2"/>
              </a:solidFill>
              <a:latin typeface="楷体" panose="02010609060101010101" charset="-122"/>
              <a:ea typeface="楷体" panose="02010609060101010101" charset="-122"/>
              <a:cs typeface="楷体" panose="02010609060101010101" charset="-122"/>
            </a:endParaRPr>
          </a:p>
        </p:txBody>
      </p:sp>
      <p:pic>
        <p:nvPicPr>
          <p:cNvPr id="14" name="图片 13"/>
          <p:cNvPicPr>
            <a:picLocks noChangeAspect="1"/>
          </p:cNvPicPr>
          <p:nvPr/>
        </p:nvPicPr>
        <p:blipFill>
          <a:blip r:embed="rId1"/>
          <a:stretch>
            <a:fillRect/>
          </a:stretch>
        </p:blipFill>
        <p:spPr>
          <a:xfrm>
            <a:off x="2567940" y="2264410"/>
            <a:ext cx="6978650" cy="3743960"/>
          </a:xfrm>
          <a:prstGeom prst="rect">
            <a:avLst/>
          </a:prstGeom>
        </p:spPr>
      </p:pic>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4" name="Rectangle 2"/>
          <p:cNvSpPr>
            <a:spLocks noGrp="1"/>
          </p:cNvSpPr>
          <p:nvPr>
            <p:ph type="title"/>
          </p:nvPr>
        </p:nvSpPr>
        <p:spPr/>
        <p:txBody>
          <a:bodyPr wrap="square" anchor="ctr"/>
          <a:p>
            <a:pPr eaLnBrk="1" hangingPunct="1"/>
            <a:r>
              <a:rPr lang="en-US" altLang="zh-CN" sz="2800">
                <a:solidFill>
                  <a:schemeClr val="tx1"/>
                </a:solidFill>
              </a:rPr>
              <a:t>Two-tier Architechture   vs.  Three-tier Architechture</a:t>
            </a:r>
            <a:endParaRPr lang="en-US" altLang="zh-CN" sz="2800" dirty="0">
              <a:solidFill>
                <a:schemeClr val="tx1"/>
              </a:solidFill>
              <a:ea typeface="宋体" panose="02010600030101010101" pitchFamily="2" charset="-122"/>
            </a:endParaRPr>
          </a:p>
        </p:txBody>
      </p:sp>
      <p:sp>
        <p:nvSpPr>
          <p:cNvPr id="2" name="内容占位符 1"/>
          <p:cNvSpPr>
            <a:spLocks noGrp="1"/>
          </p:cNvSpPr>
          <p:nvPr>
            <p:ph idx="1"/>
          </p:nvPr>
        </p:nvSpPr>
        <p:spPr/>
        <p:txBody>
          <a:bodyPr/>
          <a:p>
            <a:pPr marL="342900" indent="-342900">
              <a:lnSpc>
                <a:spcPct val="100000"/>
              </a:lnSpc>
              <a:spcBef>
                <a:spcPts val="1000"/>
              </a:spcBef>
              <a:spcAft>
                <a:spcPts val="0"/>
              </a:spcAft>
              <a:buSzPct val="80000"/>
              <a:buFont typeface="Wingdings" panose="05000000000000000000" charset="0"/>
              <a:buChar char="l"/>
            </a:pPr>
            <a:r>
              <a:rPr lang="zh-CN" altLang="en-US" sz="2800">
                <a:solidFill>
                  <a:srgbClr val="1F2DA8"/>
                </a:solidFill>
                <a:sym typeface="+mn-ea"/>
              </a:rPr>
              <a:t>但更多的时候，数据库服务器及其应用程序可能分布在距离遥远的不同地方（如下图所以）</a:t>
            </a:r>
            <a:endParaRPr lang="zh-CN" altLang="en-US" sz="2800" b="1">
              <a:solidFill>
                <a:srgbClr val="1F2DA8"/>
              </a:solidFill>
              <a:latin typeface="楷体" panose="02010609060101010101" charset="-122"/>
              <a:ea typeface="楷体" panose="02010609060101010101" charset="-122"/>
            </a:endParaRPr>
          </a:p>
          <a:p>
            <a:pPr marL="342900" indent="-342900">
              <a:lnSpc>
                <a:spcPct val="100000"/>
              </a:lnSpc>
              <a:spcBef>
                <a:spcPts val="1000"/>
              </a:spcBef>
              <a:spcAft>
                <a:spcPts val="0"/>
              </a:spcAft>
              <a:buSzPct val="80000"/>
              <a:buFont typeface="Wingdings" panose="05000000000000000000" charset="0"/>
              <a:buChar char="l"/>
            </a:pPr>
            <a:r>
              <a:rPr lang="zh-CN" altLang="en-US" sz="2800">
                <a:solidFill>
                  <a:srgbClr val="1F2DA8"/>
                </a:solidFill>
                <a:sym typeface="+mn-ea"/>
              </a:rPr>
              <a:t>它们相互之间无法通过企业内部的局域网相连，只能通过更广阔的互联网来实现数据访问和数据传输。</a:t>
            </a:r>
            <a:endParaRPr lang="zh-CN" altLang="en-US" sz="2800" b="1">
              <a:solidFill>
                <a:srgbClr val="1F2DA8"/>
              </a:solidFill>
              <a:latin typeface="楷体" panose="02010609060101010101" charset="-122"/>
              <a:ea typeface="楷体" panose="02010609060101010101" charset="-122"/>
            </a:endParaRPr>
          </a:p>
          <a:p>
            <a:endParaRPr lang="zh-CN" altLang="en-US" sz="2800" b="1">
              <a:solidFill>
                <a:srgbClr val="1F2DA8"/>
              </a:solidFill>
              <a:latin typeface="楷体" panose="02010609060101010101" charset="-122"/>
              <a:ea typeface="楷体" panose="02010609060101010101" charset="-122"/>
            </a:endParaRPr>
          </a:p>
        </p:txBody>
      </p:sp>
      <p:pic>
        <p:nvPicPr>
          <p:cNvPr id="10247" name="图片 2"/>
          <p:cNvPicPr>
            <a:picLocks noChangeAspect="1"/>
          </p:cNvPicPr>
          <p:nvPr/>
        </p:nvPicPr>
        <p:blipFill>
          <a:blip r:embed="rId1"/>
          <a:stretch>
            <a:fillRect/>
          </a:stretch>
        </p:blipFill>
        <p:spPr>
          <a:xfrm>
            <a:off x="2641600" y="2577465"/>
            <a:ext cx="6840538" cy="4032250"/>
          </a:xfrm>
          <a:prstGeom prst="rect">
            <a:avLst/>
          </a:prstGeom>
          <a:noFill/>
          <a:ln w="9525">
            <a:noFill/>
          </a:ln>
        </p:spPr>
      </p:pic>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8" name="Rectangle 2"/>
          <p:cNvSpPr>
            <a:spLocks noGrp="1"/>
          </p:cNvSpPr>
          <p:nvPr>
            <p:ph type="title"/>
          </p:nvPr>
        </p:nvSpPr>
        <p:spPr/>
        <p:txBody>
          <a:bodyPr wrap="square" anchor="ctr"/>
          <a:p>
            <a:pPr eaLnBrk="1" hangingPunct="1"/>
            <a:r>
              <a:rPr lang="en-US" altLang="zh-CN" sz="2800">
                <a:solidFill>
                  <a:schemeClr val="tx1"/>
                </a:solidFill>
              </a:rPr>
              <a:t>Two-tier Architechture   vs.  Three-tier Architechture</a:t>
            </a:r>
            <a:endParaRPr lang="en-US" altLang="zh-CN" sz="2800" dirty="0">
              <a:solidFill>
                <a:schemeClr val="tx1"/>
              </a:solidFill>
              <a:ea typeface="宋体" panose="02010600030101010101" pitchFamily="2" charset="-122"/>
            </a:endParaRPr>
          </a:p>
        </p:txBody>
      </p:sp>
      <p:sp>
        <p:nvSpPr>
          <p:cNvPr id="5" name="内容占位符 4"/>
          <p:cNvSpPr>
            <a:spLocks noGrp="1"/>
          </p:cNvSpPr>
          <p:nvPr>
            <p:ph idx="1"/>
          </p:nvPr>
        </p:nvSpPr>
        <p:spPr/>
        <p:txBody>
          <a:bodyPr/>
          <a:p>
            <a:pPr marL="342900" indent="-342900">
              <a:lnSpc>
                <a:spcPct val="100000"/>
              </a:lnSpc>
              <a:spcBef>
                <a:spcPts val="1000"/>
              </a:spcBef>
              <a:spcAft>
                <a:spcPts val="0"/>
              </a:spcAft>
              <a:buSzPct val="80000"/>
              <a:buFont typeface="Wingdings" panose="05000000000000000000" charset="0"/>
              <a:buChar char="l"/>
            </a:pPr>
            <a:r>
              <a:rPr lang="zh-CN" altLang="zh-CN" sz="2800">
                <a:solidFill>
                  <a:srgbClr val="1F2DA8"/>
                </a:solidFill>
                <a:cs typeface="楷体" panose="02010609060101010101" charset="-122"/>
                <a:sym typeface="+mn-ea"/>
              </a:rPr>
              <a:t>在三层</a:t>
            </a:r>
            <a:r>
              <a:rPr lang="en-US" altLang="zh-CN" sz="2800">
                <a:solidFill>
                  <a:srgbClr val="1F2DA8"/>
                </a:solidFill>
                <a:cs typeface="楷体" panose="02010609060101010101" charset="-122"/>
                <a:sym typeface="+mn-ea"/>
              </a:rPr>
              <a:t>B/S</a:t>
            </a:r>
            <a:r>
              <a:rPr lang="zh-CN" altLang="en-US" sz="2800">
                <a:solidFill>
                  <a:srgbClr val="1F2DA8"/>
                </a:solidFill>
                <a:cs typeface="楷体" panose="02010609060101010101" charset="-122"/>
                <a:sym typeface="+mn-ea"/>
              </a:rPr>
              <a:t>架构中，数据库和</a:t>
            </a:r>
            <a:r>
              <a:rPr lang="en-US" altLang="zh-CN" sz="2800">
                <a:solidFill>
                  <a:srgbClr val="1F2DA8"/>
                </a:solidFill>
                <a:cs typeface="楷体" panose="02010609060101010101" charset="-122"/>
                <a:sym typeface="+mn-ea"/>
              </a:rPr>
              <a:t>DBMS</a:t>
            </a:r>
            <a:r>
              <a:rPr lang="zh-CN" altLang="en-US" sz="2800">
                <a:solidFill>
                  <a:srgbClr val="1F2DA8"/>
                </a:solidFill>
                <a:cs typeface="楷体" panose="02010609060101010101" charset="-122"/>
                <a:sym typeface="+mn-ea"/>
              </a:rPr>
              <a:t>运行在数据库服务器中，数据库应用程序运行在应用服务器</a:t>
            </a:r>
            <a:r>
              <a:rPr lang="en-US" altLang="zh-CN" sz="2800">
                <a:solidFill>
                  <a:srgbClr val="1F2DA8"/>
                </a:solidFill>
                <a:cs typeface="楷体" panose="02010609060101010101" charset="-122"/>
                <a:sym typeface="+mn-ea"/>
              </a:rPr>
              <a:t>(</a:t>
            </a:r>
            <a:r>
              <a:rPr lang="zh-CN" altLang="en-US" sz="2800">
                <a:solidFill>
                  <a:srgbClr val="1F2DA8"/>
                </a:solidFill>
                <a:cs typeface="楷体" panose="02010609060101010101" charset="-122"/>
                <a:sym typeface="+mn-ea"/>
              </a:rPr>
              <a:t>也称</a:t>
            </a:r>
            <a:r>
              <a:rPr lang="en-US" altLang="zh-CN" sz="2800">
                <a:solidFill>
                  <a:srgbClr val="1F2DA8"/>
                </a:solidFill>
                <a:cs typeface="楷体" panose="02010609060101010101" charset="-122"/>
                <a:sym typeface="+mn-ea"/>
              </a:rPr>
              <a:t>“Web</a:t>
            </a:r>
            <a:r>
              <a:rPr lang="zh-CN" altLang="en-US" sz="2800">
                <a:solidFill>
                  <a:srgbClr val="1F2DA8"/>
                </a:solidFill>
                <a:cs typeface="楷体" panose="02010609060101010101" charset="-122"/>
                <a:sym typeface="+mn-ea"/>
              </a:rPr>
              <a:t>服务器</a:t>
            </a:r>
            <a:r>
              <a:rPr lang="en-US" altLang="zh-CN" sz="2800">
                <a:solidFill>
                  <a:srgbClr val="1F2DA8"/>
                </a:solidFill>
                <a:cs typeface="楷体" panose="02010609060101010101" charset="-122"/>
                <a:sym typeface="+mn-ea"/>
              </a:rPr>
              <a:t>”)</a:t>
            </a:r>
            <a:r>
              <a:rPr lang="zh-CN" altLang="en-US" sz="2800">
                <a:solidFill>
                  <a:srgbClr val="1F2DA8"/>
                </a:solidFill>
                <a:cs typeface="楷体" panose="02010609060101010101" charset="-122"/>
                <a:sym typeface="+mn-ea"/>
              </a:rPr>
              <a:t>中</a:t>
            </a:r>
            <a:endParaRPr lang="zh-CN" altLang="en-US" sz="2800" b="1">
              <a:solidFill>
                <a:srgbClr val="1F2DA8"/>
              </a:solidFill>
              <a:latin typeface="楷体" panose="02010609060101010101" charset="-122"/>
              <a:ea typeface="楷体" panose="02010609060101010101" charset="-122"/>
              <a:cs typeface="楷体" panose="02010609060101010101" charset="-122"/>
            </a:endParaRPr>
          </a:p>
          <a:p>
            <a:pPr marL="342900" indent="-342900">
              <a:lnSpc>
                <a:spcPct val="100000"/>
              </a:lnSpc>
              <a:spcBef>
                <a:spcPts val="1000"/>
              </a:spcBef>
              <a:spcAft>
                <a:spcPts val="0"/>
              </a:spcAft>
              <a:buSzPct val="80000"/>
              <a:buFont typeface="Wingdings" panose="05000000000000000000" charset="0"/>
              <a:buChar char="l"/>
            </a:pPr>
            <a:r>
              <a:rPr lang="zh-CN" altLang="en-US" sz="2800">
                <a:solidFill>
                  <a:srgbClr val="1F2DA8"/>
                </a:solidFill>
                <a:cs typeface="楷体" panose="02010609060101010101" charset="-122"/>
                <a:sym typeface="+mn-ea"/>
              </a:rPr>
              <a:t>用户客户端只需要安装常用的浏览器，负责接收用户输入和结果展示</a:t>
            </a:r>
            <a:endParaRPr lang="zh-CN" altLang="en-US" sz="2800">
              <a:solidFill>
                <a:srgbClr val="1F2DA8"/>
              </a:solidFill>
              <a:cs typeface="楷体" panose="02010609060101010101" charset="-122"/>
              <a:sym typeface="+mn-ea"/>
            </a:endParaRPr>
          </a:p>
        </p:txBody>
      </p:sp>
      <p:sp>
        <p:nvSpPr>
          <p:cNvPr id="11270" name="文本框 15"/>
          <p:cNvSpPr txBox="1"/>
          <p:nvPr/>
        </p:nvSpPr>
        <p:spPr>
          <a:xfrm>
            <a:off x="2419350" y="5749608"/>
            <a:ext cx="7350125" cy="521970"/>
          </a:xfrm>
          <a:prstGeom prst="rect">
            <a:avLst/>
          </a:prstGeom>
          <a:noFill/>
          <a:ln w="9525">
            <a:noFill/>
          </a:ln>
        </p:spPr>
        <p:txBody>
          <a:bodyPr wrap="square" anchor="t">
            <a:spAutoFit/>
          </a:bodyPr>
          <a:p>
            <a:pPr algn="ctr"/>
            <a:r>
              <a:rPr lang="zh-CN" altLang="en-US" sz="2800" b="1">
                <a:solidFill>
                  <a:schemeClr val="accent2"/>
                </a:solidFill>
                <a:latin typeface="Times New Roman" panose="02020603050405020304" pitchFamily="2" charset="0"/>
                <a:ea typeface="宋体" panose="02010600030101010101" pitchFamily="2" charset="-122"/>
              </a:rPr>
              <a:t>（</a:t>
            </a:r>
            <a:r>
              <a:rPr lang="zh-CN" altLang="en-US" sz="2800" b="1">
                <a:solidFill>
                  <a:srgbClr val="FF0000"/>
                </a:solidFill>
                <a:latin typeface="Times New Roman" panose="02020603050405020304" pitchFamily="2" charset="0"/>
                <a:ea typeface="宋体" panose="02010600030101010101" pitchFamily="2" charset="-122"/>
              </a:rPr>
              <a:t>三层浏览器</a:t>
            </a:r>
            <a:r>
              <a:rPr lang="en-US" altLang="zh-CN" sz="2800" b="1">
                <a:solidFill>
                  <a:srgbClr val="FF0000"/>
                </a:solidFill>
                <a:latin typeface="Times New Roman" panose="02020603050405020304" pitchFamily="2" charset="0"/>
                <a:ea typeface="宋体" panose="02010600030101010101" pitchFamily="2" charset="-122"/>
              </a:rPr>
              <a:t>-</a:t>
            </a:r>
            <a:r>
              <a:rPr lang="zh-CN" altLang="en-US" sz="2800" b="1">
                <a:solidFill>
                  <a:srgbClr val="FF0000"/>
                </a:solidFill>
                <a:latin typeface="Times New Roman" panose="02020603050405020304" pitchFamily="2" charset="0"/>
                <a:ea typeface="宋体" panose="02010600030101010101" pitchFamily="2" charset="-122"/>
              </a:rPr>
              <a:t>应用服务器</a:t>
            </a:r>
            <a:r>
              <a:rPr lang="en-US" altLang="zh-CN" sz="2800" b="1">
                <a:solidFill>
                  <a:srgbClr val="FF0000"/>
                </a:solidFill>
                <a:latin typeface="Times New Roman" panose="02020603050405020304" pitchFamily="2" charset="0"/>
                <a:ea typeface="宋体" panose="02010600030101010101" pitchFamily="2" charset="-122"/>
              </a:rPr>
              <a:t>/</a:t>
            </a:r>
            <a:r>
              <a:rPr lang="zh-CN" altLang="en-US" sz="2800" b="1">
                <a:solidFill>
                  <a:srgbClr val="FF0000"/>
                </a:solidFill>
                <a:latin typeface="Times New Roman" panose="02020603050405020304" pitchFamily="2" charset="0"/>
                <a:ea typeface="宋体" panose="02010600030101010101" pitchFamily="2" charset="-122"/>
              </a:rPr>
              <a:t>数据库</a:t>
            </a:r>
            <a:r>
              <a:rPr lang="zh-CN" altLang="en-US" sz="2800" b="1">
                <a:solidFill>
                  <a:srgbClr val="FF0000"/>
                </a:solidFill>
                <a:latin typeface="Times New Roman" panose="02020603050405020304" pitchFamily="2" charset="0"/>
                <a:ea typeface="宋体" panose="02010600030101010101" pitchFamily="2" charset="-122"/>
              </a:rPr>
              <a:t>服务器架构</a:t>
            </a:r>
            <a:r>
              <a:rPr lang="zh-CN" altLang="en-US" sz="2800" b="1">
                <a:solidFill>
                  <a:schemeClr val="accent2"/>
                </a:solidFill>
                <a:latin typeface="Times New Roman" panose="02020603050405020304" pitchFamily="2" charset="0"/>
                <a:ea typeface="宋体" panose="02010600030101010101" pitchFamily="2" charset="-122"/>
              </a:rPr>
              <a:t>）</a:t>
            </a:r>
            <a:endParaRPr lang="zh-CN" altLang="en-US" sz="2800" b="1">
              <a:solidFill>
                <a:schemeClr val="accent2"/>
              </a:solidFill>
              <a:latin typeface="Times New Roman" panose="02020603050405020304" pitchFamily="2" charset="0"/>
              <a:ea typeface="宋体" panose="02010600030101010101" pitchFamily="2" charset="-122"/>
            </a:endParaRPr>
          </a:p>
        </p:txBody>
      </p:sp>
      <p:pic>
        <p:nvPicPr>
          <p:cNvPr id="6" name="图片 5"/>
          <p:cNvPicPr>
            <a:picLocks noChangeAspect="1"/>
          </p:cNvPicPr>
          <p:nvPr/>
        </p:nvPicPr>
        <p:blipFill>
          <a:blip r:embed="rId1"/>
          <a:stretch>
            <a:fillRect/>
          </a:stretch>
        </p:blipFill>
        <p:spPr>
          <a:xfrm>
            <a:off x="1944370" y="2376170"/>
            <a:ext cx="8064500" cy="3418840"/>
          </a:xfrm>
          <a:prstGeom prst="rect">
            <a:avLst/>
          </a:prstGeom>
        </p:spPr>
      </p:pic>
      <p:sp>
        <p:nvSpPr>
          <p:cNvPr id="7" name="灯片编号占位符 6"/>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Rectangle 2"/>
          <p:cNvSpPr>
            <a:spLocks noGrp="1"/>
          </p:cNvSpPr>
          <p:nvPr>
            <p:ph type="title"/>
          </p:nvPr>
        </p:nvSpPr>
        <p:spPr/>
        <p:txBody>
          <a:bodyPr wrap="square" tIns="0" bIns="0" anchor="ctr"/>
          <a:p>
            <a:pPr eaLnBrk="1" hangingPunct="1"/>
            <a:r>
              <a:rPr lang="zh-CN" altLang="en-US" dirty="0"/>
              <a:t>第</a:t>
            </a:r>
            <a:r>
              <a:rPr lang="en-US" altLang="zh-CN" dirty="0"/>
              <a:t> 1 </a:t>
            </a:r>
            <a:r>
              <a:rPr lang="zh-CN" altLang="en-US" dirty="0"/>
              <a:t>章  </a:t>
            </a:r>
            <a:r>
              <a:rPr lang="en-US" altLang="zh-CN" dirty="0"/>
              <a:t> </a:t>
            </a:r>
            <a:r>
              <a:rPr lang="zh-CN" altLang="en-US" dirty="0"/>
              <a:t>绪</a:t>
            </a:r>
            <a:r>
              <a:rPr lang="en-US" altLang="zh-CN" dirty="0"/>
              <a:t>  </a:t>
            </a:r>
            <a:r>
              <a:rPr lang="zh-CN" altLang="en-US" dirty="0"/>
              <a:t>论</a:t>
            </a:r>
            <a:endParaRPr lang="zh-CN" altLang="en-US" dirty="0"/>
          </a:p>
        </p:txBody>
      </p:sp>
      <p:sp>
        <p:nvSpPr>
          <p:cNvPr id="5124" name="Rectangle 3"/>
          <p:cNvSpPr>
            <a:spLocks noGrp="1"/>
          </p:cNvSpPr>
          <p:nvPr>
            <p:ph idx="1"/>
          </p:nvPr>
        </p:nvSpPr>
        <p:spPr/>
        <p:txBody>
          <a:bodyPr wrap="square" anchor="t"/>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1.1 数据库系统概述</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1.2 数据模型</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1.3 数据库系统的结构</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FF0000"/>
                </a:solidFill>
                <a:latin typeface="Arial" panose="020B0604020202020204" pitchFamily="34" charset="0"/>
                <a:cs typeface="Arial" panose="020B0604020202020204" pitchFamily="34" charset="0"/>
                <a:sym typeface="Wingdings 3" panose="05040102010807070707" pitchFamily="2" charset="2"/>
              </a:rPr>
              <a:t>1.4 数据库系统的组成</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rPr>
              <a:t>1.5 </a:t>
            </a: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小结</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hlinkClick r:id="rId1" action="ppaction://hlinksldjump"/>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idx="1"/>
          </p:nvPr>
        </p:nvSpPr>
        <p:spPr>
          <a:solidFill>
            <a:schemeClr val="accent1">
              <a:lumMod val="20000"/>
              <a:lumOff val="80000"/>
              <a:alpha val="50000"/>
            </a:schemeClr>
          </a:solidFill>
        </p:spPr>
        <p:txBody>
          <a:bodyPr/>
          <a:lstStyle/>
          <a:p>
            <a:r>
              <a:rPr lang="zh-CN" altLang="en-US" dirty="0"/>
              <a:t>硬件平台</a:t>
            </a:r>
            <a:endParaRPr lang="zh-CN" altLang="en-US" dirty="0"/>
          </a:p>
        </p:txBody>
      </p:sp>
      <p:sp>
        <p:nvSpPr>
          <p:cNvPr id="7" name="内容占位符 6"/>
          <p:cNvSpPr>
            <a:spLocks noGrp="1"/>
          </p:cNvSpPr>
          <p:nvPr>
            <p:ph sz="half" idx="2"/>
          </p:nvPr>
        </p:nvSpPr>
        <p:spPr>
          <a:ln>
            <a:solidFill>
              <a:schemeClr val="accent1"/>
            </a:solidFill>
          </a:ln>
        </p:spPr>
        <p:txBody>
          <a:bodyPr>
            <a:noAutofit/>
          </a:bodyPr>
          <a:lstStyle/>
          <a:p>
            <a:pPr>
              <a:lnSpc>
                <a:spcPct val="110000"/>
              </a:lnSpc>
              <a:spcBef>
                <a:spcPts val="1000"/>
              </a:spcBef>
            </a:pPr>
            <a:r>
              <a:rPr lang="zh-CN" altLang="en-US" sz="2800" dirty="0"/>
              <a:t>数据库系统对硬件资源的要求</a:t>
            </a:r>
            <a:endParaRPr lang="zh-CN" altLang="en-US" sz="2800" dirty="0"/>
          </a:p>
          <a:p>
            <a:pPr lvl="1">
              <a:lnSpc>
                <a:spcPct val="110000"/>
              </a:lnSpc>
              <a:spcBef>
                <a:spcPts val="1000"/>
              </a:spcBef>
            </a:pPr>
            <a:r>
              <a:rPr lang="zh-CN" altLang="en-US" sz="2800" dirty="0"/>
              <a:t>足够大的内存</a:t>
            </a:r>
            <a:endParaRPr lang="en-US" altLang="zh-CN" sz="2800" dirty="0"/>
          </a:p>
          <a:p>
            <a:pPr lvl="1">
              <a:lnSpc>
                <a:spcPct val="110000"/>
              </a:lnSpc>
              <a:spcBef>
                <a:spcPts val="1000"/>
              </a:spcBef>
            </a:pPr>
            <a:r>
              <a:rPr lang="zh-CN" altLang="zh-CN" sz="2800" dirty="0"/>
              <a:t>足够的大的磁盘或磁盘阵列等设备</a:t>
            </a:r>
            <a:endParaRPr lang="en-US" altLang="zh-CN" sz="2800" dirty="0"/>
          </a:p>
          <a:p>
            <a:pPr lvl="1">
              <a:lnSpc>
                <a:spcPct val="110000"/>
              </a:lnSpc>
              <a:spcBef>
                <a:spcPts val="1000"/>
              </a:spcBef>
            </a:pPr>
            <a:r>
              <a:rPr lang="zh-CN" altLang="en-US" sz="2800" dirty="0"/>
              <a:t>较高的通道能力，提高数据传送率</a:t>
            </a:r>
            <a:endParaRPr lang="zh-CN" altLang="en-US" sz="2800" dirty="0"/>
          </a:p>
        </p:txBody>
      </p:sp>
      <p:sp>
        <p:nvSpPr>
          <p:cNvPr id="14" name="文本占位符 13"/>
          <p:cNvSpPr>
            <a:spLocks noGrp="1"/>
          </p:cNvSpPr>
          <p:nvPr>
            <p:ph type="body" sz="quarter" idx="3"/>
          </p:nvPr>
        </p:nvSpPr>
        <p:spPr>
          <a:solidFill>
            <a:schemeClr val="accent1">
              <a:lumMod val="20000"/>
              <a:lumOff val="80000"/>
              <a:alpha val="50000"/>
            </a:schemeClr>
          </a:solidFill>
        </p:spPr>
        <p:txBody>
          <a:bodyPr/>
          <a:lstStyle/>
          <a:p>
            <a:r>
              <a:rPr lang="zh-CN" altLang="en-US" dirty="0"/>
              <a:t>软件</a:t>
            </a:r>
            <a:r>
              <a:rPr lang="zh-CN" altLang="en-US" dirty="0"/>
              <a:t>平台</a:t>
            </a:r>
            <a:endParaRPr lang="zh-CN" altLang="en-US" dirty="0"/>
          </a:p>
        </p:txBody>
      </p:sp>
      <p:sp>
        <p:nvSpPr>
          <p:cNvPr id="15" name="内容占位符 14"/>
          <p:cNvSpPr>
            <a:spLocks noGrp="1"/>
          </p:cNvSpPr>
          <p:nvPr>
            <p:ph sz="quarter" idx="4"/>
          </p:nvPr>
        </p:nvSpPr>
        <p:spPr>
          <a:ln>
            <a:solidFill>
              <a:schemeClr val="accent1"/>
            </a:solidFill>
          </a:ln>
        </p:spPr>
        <p:txBody>
          <a:bodyPr>
            <a:noAutofit/>
          </a:bodyPr>
          <a:lstStyle/>
          <a:p>
            <a:pPr>
              <a:lnSpc>
                <a:spcPct val="110000"/>
              </a:lnSpc>
            </a:pPr>
            <a:r>
              <a:rPr lang="zh-CN" altLang="en-US" sz="2800" dirty="0"/>
              <a:t>数据库管理系统</a:t>
            </a:r>
            <a:endParaRPr lang="en-US" altLang="zh-CN" sz="2800" dirty="0"/>
          </a:p>
          <a:p>
            <a:pPr>
              <a:lnSpc>
                <a:spcPct val="110000"/>
              </a:lnSpc>
            </a:pPr>
            <a:r>
              <a:rPr lang="zh-CN" altLang="en-US" sz="2800" dirty="0"/>
              <a:t>支持数据库管理系统运行的操作系统</a:t>
            </a:r>
            <a:endParaRPr lang="zh-CN" altLang="en-US" sz="2800" dirty="0"/>
          </a:p>
          <a:p>
            <a:pPr>
              <a:lnSpc>
                <a:spcPct val="110000"/>
              </a:lnSpc>
            </a:pPr>
            <a:r>
              <a:rPr lang="zh-CN" altLang="en-US" sz="2800" dirty="0"/>
              <a:t>与数据库接口的高级语言及其编译系统</a:t>
            </a:r>
            <a:endParaRPr lang="zh-CN" altLang="en-US" sz="2800" dirty="0"/>
          </a:p>
          <a:p>
            <a:pPr>
              <a:lnSpc>
                <a:spcPct val="110000"/>
              </a:lnSpc>
            </a:pPr>
            <a:r>
              <a:rPr lang="zh-CN" altLang="en-US" sz="2800" dirty="0"/>
              <a:t>以数据库管理系统为核心的应用开发工具</a:t>
            </a:r>
            <a:endParaRPr lang="zh-CN" altLang="en-US" sz="2800" dirty="0"/>
          </a:p>
          <a:p>
            <a:pPr>
              <a:lnSpc>
                <a:spcPct val="110000"/>
              </a:lnSpc>
            </a:pPr>
            <a:r>
              <a:rPr lang="zh-CN" altLang="en-US" sz="2800" dirty="0"/>
              <a:t>为特定应用环境开发的数据库应用系统</a:t>
            </a:r>
            <a:endParaRPr lang="zh-CN" altLang="en-US" sz="2800" dirty="0"/>
          </a:p>
        </p:txBody>
      </p:sp>
      <p:sp>
        <p:nvSpPr>
          <p:cNvPr id="4" name="灯片编号占位符 3"/>
          <p:cNvSpPr>
            <a:spLocks noGrp="1"/>
          </p:cNvSpPr>
          <p:nvPr>
            <p:ph type="sldNum" sz="quarter" idx="12"/>
          </p:nvPr>
        </p:nvSpPr>
        <p:spPr>
          <a:xfrm>
            <a:off x="11461115" y="6696000"/>
            <a:ext cx="730885" cy="153670"/>
          </a:xfrm>
        </p:spPr>
        <p:txBody>
          <a:bodyPr/>
          <a:lstStyle/>
          <a:p>
            <a:fld id="{759762E9-AABD-478B-B116-8B8B54DC7F1E}" type="slidenum">
              <a:rPr lang="en-US" altLang="zh-CN" smtClean="0"/>
            </a:fld>
            <a:endParaRPr lang="en-US" altLang="zh-CN" dirty="0"/>
          </a:p>
        </p:txBody>
      </p:sp>
      <p:sp>
        <p:nvSpPr>
          <p:cNvPr id="5" name="标题 4"/>
          <p:cNvSpPr>
            <a:spLocks noGrp="1"/>
          </p:cNvSpPr>
          <p:nvPr>
            <p:ph type="title"/>
          </p:nvPr>
        </p:nvSpPr>
        <p:spPr/>
        <p:txBody>
          <a:bodyPr/>
          <a:lstStyle/>
          <a:p>
            <a:r>
              <a:rPr lang="zh-CN" altLang="en-US" dirty="0"/>
              <a:t>数据库系统的组成</a:t>
            </a:r>
            <a:r>
              <a:rPr lang="en-US" altLang="zh-CN" dirty="0"/>
              <a:t>-</a:t>
            </a:r>
            <a:r>
              <a:rPr lang="zh-CN" altLang="en-US" dirty="0"/>
              <a:t>软硬件平台</a:t>
            </a:r>
            <a:endParaRPr lang="zh-CN" altLang="en-US"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zh-CN" altLang="en-US" dirty="0"/>
              <a:t>数据库系统的组成</a:t>
            </a:r>
            <a:r>
              <a:rPr lang="en-US" altLang="zh-CN" dirty="0"/>
              <a:t>-</a:t>
            </a:r>
            <a:r>
              <a:rPr lang="zh-CN" altLang="en-US" dirty="0"/>
              <a:t>人员</a:t>
            </a:r>
            <a:endParaRPr lang="zh-CN" altLang="en-US" dirty="0"/>
          </a:p>
        </p:txBody>
      </p:sp>
      <p:grpSp>
        <p:nvGrpSpPr>
          <p:cNvPr id="31" name="组合 30"/>
          <p:cNvGrpSpPr/>
          <p:nvPr/>
        </p:nvGrpSpPr>
        <p:grpSpPr>
          <a:xfrm>
            <a:off x="2134637" y="983258"/>
            <a:ext cx="7120255" cy="4651375"/>
            <a:chOff x="-48895" y="2057400"/>
            <a:chExt cx="7120255" cy="4651375"/>
          </a:xfrm>
        </p:grpSpPr>
        <p:sp>
          <p:nvSpPr>
            <p:cNvPr id="34" name="Text Box 241"/>
            <p:cNvSpPr txBox="1">
              <a:spLocks noChangeArrowheads="1"/>
            </p:cNvSpPr>
            <p:nvPr/>
          </p:nvSpPr>
          <p:spPr bwMode="auto">
            <a:xfrm>
              <a:off x="346075" y="2260600"/>
              <a:ext cx="186499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rPr>
                <a:t>最终用户</a:t>
              </a:r>
              <a:endParaRPr kumimoji="1" lang="zh-CN" altLang="en-US"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endParaRPr>
            </a:p>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rPr>
                <a:t>应用程序员</a:t>
              </a:r>
              <a:endParaRPr kumimoji="1" lang="zh-CN" altLang="en-US"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endParaRPr>
            </a:p>
          </p:txBody>
        </p:sp>
        <p:sp>
          <p:nvSpPr>
            <p:cNvPr id="35" name="Text Box 243"/>
            <p:cNvSpPr txBox="1">
              <a:spLocks noChangeArrowheads="1"/>
            </p:cNvSpPr>
            <p:nvPr/>
          </p:nvSpPr>
          <p:spPr bwMode="auto">
            <a:xfrm>
              <a:off x="-48895" y="4038600"/>
              <a:ext cx="251333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en-US" altLang="zh-CN"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rPr>
                <a:t>DBA</a:t>
              </a:r>
              <a:endParaRPr kumimoji="1" lang="en-US" altLang="zh-CN"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endParaRPr>
            </a:p>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rPr>
                <a:t>系统分析员</a:t>
              </a:r>
              <a:endParaRPr kumimoji="1" lang="zh-CN" altLang="en-US"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endParaRPr>
            </a:p>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rPr>
                <a:t>数据库设计人员</a:t>
              </a:r>
              <a:endParaRPr kumimoji="1" lang="zh-CN" altLang="en-US"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endParaRPr>
            </a:p>
          </p:txBody>
        </p:sp>
        <p:sp>
          <p:nvSpPr>
            <p:cNvPr id="36" name="Rectangle 248"/>
            <p:cNvSpPr>
              <a:spLocks noChangeArrowheads="1"/>
            </p:cNvSpPr>
            <p:nvPr/>
          </p:nvSpPr>
          <p:spPr bwMode="auto">
            <a:xfrm>
              <a:off x="2849880" y="4343400"/>
              <a:ext cx="1264920" cy="381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内模式</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endParaRPr>
            </a:p>
          </p:txBody>
        </p:sp>
        <p:sp>
          <p:nvSpPr>
            <p:cNvPr id="37" name="Rectangle 251"/>
            <p:cNvSpPr>
              <a:spLocks noChangeArrowheads="1"/>
            </p:cNvSpPr>
            <p:nvPr/>
          </p:nvSpPr>
          <p:spPr bwMode="auto">
            <a:xfrm>
              <a:off x="5562600" y="2057400"/>
              <a:ext cx="1457325" cy="381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应用系统</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endParaRPr>
            </a:p>
          </p:txBody>
        </p:sp>
        <p:sp>
          <p:nvSpPr>
            <p:cNvPr id="38" name="Rectangle 252"/>
            <p:cNvSpPr>
              <a:spLocks noChangeArrowheads="1"/>
            </p:cNvSpPr>
            <p:nvPr/>
          </p:nvSpPr>
          <p:spPr bwMode="auto">
            <a:xfrm>
              <a:off x="2850515" y="2971800"/>
              <a:ext cx="1264285" cy="381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外模式</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endParaRPr>
            </a:p>
          </p:txBody>
        </p:sp>
        <p:sp>
          <p:nvSpPr>
            <p:cNvPr id="39" name="Rectangle 253"/>
            <p:cNvSpPr>
              <a:spLocks noChangeArrowheads="1"/>
            </p:cNvSpPr>
            <p:nvPr/>
          </p:nvSpPr>
          <p:spPr bwMode="auto">
            <a:xfrm>
              <a:off x="2664460" y="2057400"/>
              <a:ext cx="1374140" cy="381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数据表示</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endParaRPr>
            </a:p>
          </p:txBody>
        </p:sp>
        <p:sp>
          <p:nvSpPr>
            <p:cNvPr id="40" name="Rectangle 254"/>
            <p:cNvSpPr>
              <a:spLocks noChangeArrowheads="1"/>
            </p:cNvSpPr>
            <p:nvPr/>
          </p:nvSpPr>
          <p:spPr bwMode="auto">
            <a:xfrm>
              <a:off x="2851785" y="3657600"/>
              <a:ext cx="1263015" cy="381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模式</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endParaRPr>
            </a:p>
          </p:txBody>
        </p:sp>
        <p:sp>
          <p:nvSpPr>
            <p:cNvPr id="41" name="AutoShape 255"/>
            <p:cNvSpPr>
              <a:spLocks noChangeArrowheads="1"/>
            </p:cNvSpPr>
            <p:nvPr/>
          </p:nvSpPr>
          <p:spPr bwMode="auto">
            <a:xfrm>
              <a:off x="3048000" y="5181600"/>
              <a:ext cx="1066800" cy="914400"/>
            </a:xfrm>
            <a:prstGeom prst="can">
              <a:avLst>
                <a:gd name="adj" fmla="val 25000"/>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DB</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endParaRPr>
            </a:p>
          </p:txBody>
        </p:sp>
        <p:sp>
          <p:nvSpPr>
            <p:cNvPr id="42" name="AutoShape 256"/>
            <p:cNvSpPr>
              <a:spLocks noChangeArrowheads="1"/>
            </p:cNvSpPr>
            <p:nvPr/>
          </p:nvSpPr>
          <p:spPr bwMode="auto">
            <a:xfrm>
              <a:off x="5562600" y="3505200"/>
              <a:ext cx="1295400" cy="914400"/>
            </a:xfrm>
            <a:prstGeom prst="hexagon">
              <a:avLst>
                <a:gd name="adj" fmla="val 35417"/>
                <a:gd name="vf" fmla="val 115470"/>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DBMS</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endParaRPr>
            </a:p>
          </p:txBody>
        </p:sp>
        <p:sp>
          <p:nvSpPr>
            <p:cNvPr id="43" name="Oval 257"/>
            <p:cNvSpPr>
              <a:spLocks noChangeArrowheads="1"/>
            </p:cNvSpPr>
            <p:nvPr/>
          </p:nvSpPr>
          <p:spPr bwMode="auto">
            <a:xfrm>
              <a:off x="5867400" y="4876800"/>
              <a:ext cx="1066800" cy="68580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OS</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endParaRPr>
            </a:p>
          </p:txBody>
        </p:sp>
        <p:sp>
          <p:nvSpPr>
            <p:cNvPr id="44" name="Line 258"/>
            <p:cNvSpPr>
              <a:spLocks noChangeShapeType="1"/>
            </p:cNvSpPr>
            <p:nvPr/>
          </p:nvSpPr>
          <p:spPr bwMode="auto">
            <a:xfrm flipV="1">
              <a:off x="4114800" y="5410200"/>
              <a:ext cx="1905000" cy="3048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5" name="Line 259"/>
            <p:cNvSpPr>
              <a:spLocks noChangeShapeType="1"/>
            </p:cNvSpPr>
            <p:nvPr/>
          </p:nvSpPr>
          <p:spPr bwMode="auto">
            <a:xfrm flipV="1">
              <a:off x="4114800" y="4038600"/>
              <a:ext cx="1524000" cy="5334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6" name="Line 260"/>
            <p:cNvSpPr>
              <a:spLocks noChangeShapeType="1"/>
            </p:cNvSpPr>
            <p:nvPr/>
          </p:nvSpPr>
          <p:spPr bwMode="auto">
            <a:xfrm flipV="1">
              <a:off x="4114800" y="4343400"/>
              <a:ext cx="1676400" cy="10668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7" name="Line 261"/>
            <p:cNvSpPr>
              <a:spLocks noChangeShapeType="1"/>
            </p:cNvSpPr>
            <p:nvPr/>
          </p:nvSpPr>
          <p:spPr bwMode="auto">
            <a:xfrm flipV="1">
              <a:off x="4114800" y="3733800"/>
              <a:ext cx="1600200" cy="1524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8" name="Line 262"/>
            <p:cNvSpPr>
              <a:spLocks noChangeShapeType="1"/>
            </p:cNvSpPr>
            <p:nvPr/>
          </p:nvSpPr>
          <p:spPr bwMode="auto">
            <a:xfrm>
              <a:off x="4114800" y="3200400"/>
              <a:ext cx="1752600" cy="3810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9" name="Line 263"/>
            <p:cNvSpPr>
              <a:spLocks noChangeShapeType="1"/>
            </p:cNvSpPr>
            <p:nvPr/>
          </p:nvSpPr>
          <p:spPr bwMode="auto">
            <a:xfrm>
              <a:off x="6172200" y="2438400"/>
              <a:ext cx="0" cy="10668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0" name="Line 264"/>
            <p:cNvSpPr>
              <a:spLocks noChangeShapeType="1"/>
            </p:cNvSpPr>
            <p:nvPr/>
          </p:nvSpPr>
          <p:spPr bwMode="auto">
            <a:xfrm>
              <a:off x="6324600" y="4419600"/>
              <a:ext cx="0" cy="4572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1" name="Line 265"/>
            <p:cNvSpPr>
              <a:spLocks noChangeShapeType="1"/>
            </p:cNvSpPr>
            <p:nvPr/>
          </p:nvSpPr>
          <p:spPr bwMode="auto">
            <a:xfrm>
              <a:off x="4038600" y="2209800"/>
              <a:ext cx="152400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2" name="Rectangle 268"/>
            <p:cNvSpPr>
              <a:spLocks noChangeArrowheads="1"/>
            </p:cNvSpPr>
            <p:nvPr/>
          </p:nvSpPr>
          <p:spPr bwMode="auto">
            <a:xfrm>
              <a:off x="2286000" y="6248400"/>
              <a:ext cx="2019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数据抽象级别</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endParaRPr>
            </a:p>
          </p:txBody>
        </p:sp>
        <p:sp>
          <p:nvSpPr>
            <p:cNvPr id="53" name="Rectangle 269"/>
            <p:cNvSpPr>
              <a:spLocks noChangeArrowheads="1"/>
            </p:cNvSpPr>
            <p:nvPr/>
          </p:nvSpPr>
          <p:spPr bwMode="auto">
            <a:xfrm>
              <a:off x="5052060" y="6248400"/>
              <a:ext cx="2019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软件系统层次</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endParaRPr>
            </a:p>
          </p:txBody>
        </p:sp>
        <p:graphicFrame>
          <p:nvGraphicFramePr>
            <p:cNvPr id="54" name="Object 2"/>
            <p:cNvGraphicFramePr>
              <a:graphicFrameLocks noChangeAspect="1"/>
            </p:cNvGraphicFramePr>
            <p:nvPr/>
          </p:nvGraphicFramePr>
          <p:xfrm>
            <a:off x="2352040" y="2593975"/>
            <a:ext cx="295275" cy="3654425"/>
          </p:xfrm>
          <a:graphic>
            <a:graphicData uri="http://schemas.openxmlformats.org/presentationml/2006/ole">
              <mc:AlternateContent xmlns:mc="http://schemas.openxmlformats.org/markup-compatibility/2006">
                <mc:Choice xmlns:v="urn:schemas-microsoft-com:vml" Requires="v">
                  <p:oleObj spid="_x0000_s1042" name="位图图像" r:id="rId1" imgW="180975" imgH="638175" progId="Paint.Picture">
                    <p:embed/>
                  </p:oleObj>
                </mc:Choice>
                <mc:Fallback>
                  <p:oleObj name="位图图像" r:id="rId1" imgW="180975" imgH="638175" progId="Paint.Picture">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2040" y="2593975"/>
                          <a:ext cx="295275" cy="3654425"/>
                        </a:xfrm>
                        <a:prstGeom prst="rect">
                          <a:avLst/>
                        </a:prstGeom>
                        <a:noFill/>
                        <a:ln>
                          <a:noFill/>
                        </a:ln>
                        <a:effectLst/>
                      </p:spPr>
                    </p:pic>
                  </p:oleObj>
                </mc:Fallback>
              </mc:AlternateContent>
            </a:graphicData>
          </a:graphic>
        </p:graphicFrame>
        <p:graphicFrame>
          <p:nvGraphicFramePr>
            <p:cNvPr id="55" name="Object 3"/>
            <p:cNvGraphicFramePr>
              <a:graphicFrameLocks noChangeAspect="1"/>
            </p:cNvGraphicFramePr>
            <p:nvPr/>
          </p:nvGraphicFramePr>
          <p:xfrm>
            <a:off x="2032000" y="2057400"/>
            <a:ext cx="295275" cy="1295400"/>
          </p:xfrm>
          <a:graphic>
            <a:graphicData uri="http://schemas.openxmlformats.org/presentationml/2006/ole">
              <mc:AlternateContent xmlns:mc="http://schemas.openxmlformats.org/markup-compatibility/2006">
                <mc:Choice xmlns:v="urn:schemas-microsoft-com:vml" Requires="v">
                  <p:oleObj spid="_x0000_s1043" name="位图图像" r:id="rId3" imgW="180975" imgH="638175" progId="Paint.Picture">
                    <p:embed/>
                  </p:oleObj>
                </mc:Choice>
                <mc:Fallback>
                  <p:oleObj name="位图图像" r:id="rId3" imgW="180975" imgH="638175" progId="Paint.Picture">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000" y="2057400"/>
                          <a:ext cx="295275" cy="1295400"/>
                        </a:xfrm>
                        <a:prstGeom prst="rect">
                          <a:avLst/>
                        </a:prstGeom>
                        <a:noFill/>
                        <a:ln>
                          <a:noFill/>
                        </a:ln>
                        <a:effectLst/>
                      </p:spPr>
                    </p:pic>
                  </p:oleObj>
                </mc:Fallback>
              </mc:AlternateContent>
            </a:graphicData>
          </a:graphic>
        </p:graphicFrame>
      </p:grpSp>
      <p:sp>
        <p:nvSpPr>
          <p:cNvPr id="3" name="文本框 2"/>
          <p:cNvSpPr txBox="1"/>
          <p:nvPr/>
        </p:nvSpPr>
        <p:spPr>
          <a:xfrm>
            <a:off x="1410970" y="5864225"/>
            <a:ext cx="9568815" cy="521970"/>
          </a:xfrm>
          <a:prstGeom prst="rect">
            <a:avLst/>
          </a:prstGeom>
          <a:noFill/>
        </p:spPr>
        <p:txBody>
          <a:bodyPr wrap="square" rtlCol="0">
            <a:spAutoFit/>
          </a:bodyPr>
          <a:p>
            <a:pPr algn="ctr"/>
            <a:r>
              <a:rPr lang="zh-CN" altLang="en-US" sz="2800" b="1">
                <a:solidFill>
                  <a:srgbClr val="1F2DA8"/>
                </a:solidFill>
                <a:latin typeface="楷体" panose="02010609060101010101" charset="-122"/>
                <a:ea typeface="楷体" panose="02010609060101010101" charset="-122"/>
                <a:cs typeface="楷体" panose="02010609060101010101" charset="-122"/>
              </a:rPr>
              <a:t>图</a:t>
            </a:r>
            <a:r>
              <a:rPr lang="en-US" altLang="zh-CN" sz="2800" b="1">
                <a:solidFill>
                  <a:srgbClr val="1F2DA8"/>
                </a:solidFill>
                <a:latin typeface="楷体" panose="02010609060101010101" charset="-122"/>
                <a:ea typeface="楷体" panose="02010609060101010101" charset="-122"/>
                <a:cs typeface="楷体" panose="02010609060101010101" charset="-122"/>
              </a:rPr>
              <a:t>1.17  </a:t>
            </a:r>
            <a:r>
              <a:rPr lang="zh-CN" altLang="en-US" sz="2800" b="1">
                <a:solidFill>
                  <a:srgbClr val="1F2DA8"/>
                </a:solidFill>
                <a:latin typeface="楷体" panose="02010609060101010101" charset="-122"/>
                <a:ea typeface="楷体" panose="02010609060101010101" charset="-122"/>
                <a:cs typeface="楷体" panose="02010609060101010101" charset="-122"/>
              </a:rPr>
              <a:t>各种人员的数据视图</a:t>
            </a:r>
            <a:endParaRPr lang="zh-CN" altLang="en-US" sz="2800" b="1">
              <a:solidFill>
                <a:srgbClr val="1F2DA8"/>
              </a:solidFill>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zh-CN" altLang="en-US" dirty="0"/>
              <a:t>数据库管理员（</a:t>
            </a:r>
            <a:r>
              <a:rPr lang="en-US" altLang="zh-CN" dirty="0"/>
              <a:t>DBA</a:t>
            </a:r>
            <a:r>
              <a:rPr lang="zh-CN" altLang="en-US" dirty="0"/>
              <a:t>）</a:t>
            </a:r>
            <a:endParaRPr lang="en-US" altLang="zh-CN" dirty="0"/>
          </a:p>
        </p:txBody>
      </p:sp>
      <p:sp>
        <p:nvSpPr>
          <p:cNvPr id="141315" name="Rectangle 3"/>
          <p:cNvSpPr>
            <a:spLocks noGrp="1" noChangeArrowheads="1"/>
          </p:cNvSpPr>
          <p:nvPr>
            <p:ph idx="1"/>
          </p:nvPr>
        </p:nvSpPr>
        <p:spPr/>
        <p:txBody>
          <a:bodyPr numCol="2">
            <a:normAutofit/>
          </a:bodyPr>
          <a:lstStyle/>
          <a:p>
            <a:pPr>
              <a:lnSpc>
                <a:spcPct val="100000"/>
              </a:lnSpc>
              <a:spcBef>
                <a:spcPct val="0"/>
              </a:spcBef>
            </a:pPr>
            <a:r>
              <a:rPr lang="zh-CN" altLang="en-US" dirty="0"/>
              <a:t>决定数据库中的信息内容和结构</a:t>
            </a:r>
            <a:endParaRPr lang="zh-CN" altLang="en-US" dirty="0"/>
          </a:p>
          <a:p>
            <a:pPr>
              <a:lnSpc>
                <a:spcPct val="100000"/>
              </a:lnSpc>
            </a:pPr>
            <a:r>
              <a:rPr lang="zh-CN" altLang="en-US" dirty="0"/>
              <a:t>决定数据库的存储结构和存取策略</a:t>
            </a:r>
            <a:endParaRPr lang="zh-CN" altLang="en-US" dirty="0"/>
          </a:p>
          <a:p>
            <a:pPr>
              <a:lnSpc>
                <a:spcPct val="100000"/>
              </a:lnSpc>
            </a:pPr>
            <a:r>
              <a:rPr lang="zh-CN" altLang="en-US" dirty="0"/>
              <a:t>定义数据的安全性要求和完整性约束条件</a:t>
            </a:r>
            <a:endParaRPr lang="en-US" altLang="zh-CN" dirty="0"/>
          </a:p>
          <a:p>
            <a:pPr>
              <a:lnSpc>
                <a:spcPct val="100000"/>
              </a:lnSpc>
            </a:pPr>
            <a:r>
              <a:rPr lang="zh-CN" altLang="en-US" dirty="0"/>
              <a:t>监控数据库的使用和运行</a:t>
            </a:r>
            <a:endParaRPr lang="zh-CN" altLang="en-US" dirty="0"/>
          </a:p>
          <a:p>
            <a:pPr lvl="1">
              <a:lnSpc>
                <a:spcPct val="100000"/>
              </a:lnSpc>
              <a:spcBef>
                <a:spcPct val="0"/>
              </a:spcBef>
            </a:pPr>
            <a:r>
              <a:rPr lang="zh-CN" altLang="en-US" dirty="0"/>
              <a:t>周期性转储数据库：数据文件</a:t>
            </a:r>
            <a:r>
              <a:rPr lang="en-US" altLang="zh-CN" dirty="0"/>
              <a:t> &amp; </a:t>
            </a:r>
            <a:r>
              <a:rPr lang="zh-CN" altLang="en-US" dirty="0"/>
              <a:t>日志文件</a:t>
            </a:r>
            <a:endParaRPr lang="zh-CN" altLang="en-US" dirty="0"/>
          </a:p>
          <a:p>
            <a:pPr lvl="1">
              <a:lnSpc>
                <a:spcPct val="100000"/>
              </a:lnSpc>
              <a:spcBef>
                <a:spcPct val="0"/>
              </a:spcBef>
            </a:pPr>
            <a:r>
              <a:rPr lang="zh-CN" altLang="en-US" dirty="0"/>
              <a:t>系统故障恢复</a:t>
            </a:r>
            <a:endParaRPr lang="zh-CN" altLang="en-US" dirty="0"/>
          </a:p>
          <a:p>
            <a:pPr lvl="1">
              <a:lnSpc>
                <a:spcPct val="100000"/>
              </a:lnSpc>
              <a:spcBef>
                <a:spcPct val="0"/>
              </a:spcBef>
            </a:pPr>
            <a:r>
              <a:rPr lang="zh-CN" altLang="en-US" dirty="0"/>
              <a:t>介质故障恢复</a:t>
            </a:r>
            <a:endParaRPr lang="zh-CN" altLang="en-US" dirty="0"/>
          </a:p>
          <a:p>
            <a:pPr lvl="1">
              <a:lnSpc>
                <a:spcPct val="100000"/>
              </a:lnSpc>
              <a:spcBef>
                <a:spcPct val="0"/>
              </a:spcBef>
            </a:pPr>
            <a:r>
              <a:rPr lang="zh-CN" altLang="en-US" dirty="0"/>
              <a:t>监视审计文件</a:t>
            </a:r>
            <a:endParaRPr lang="zh-CN" altLang="en-US" dirty="0"/>
          </a:p>
          <a:p>
            <a:pPr>
              <a:lnSpc>
                <a:spcPct val="100000"/>
              </a:lnSpc>
            </a:pPr>
            <a:r>
              <a:rPr lang="zh-CN" altLang="en-US" dirty="0"/>
              <a:t>数据库的改进和重组</a:t>
            </a:r>
            <a:endParaRPr lang="zh-CN" altLang="en-US" dirty="0"/>
          </a:p>
          <a:p>
            <a:pPr lvl="1">
              <a:lnSpc>
                <a:spcPct val="100000"/>
              </a:lnSpc>
              <a:spcBef>
                <a:spcPct val="0"/>
              </a:spcBef>
            </a:pPr>
            <a:r>
              <a:rPr lang="zh-CN" altLang="en-US" dirty="0"/>
              <a:t>性能监控和调优</a:t>
            </a:r>
            <a:endParaRPr lang="zh-CN" altLang="en-US" dirty="0"/>
          </a:p>
          <a:p>
            <a:pPr lvl="1">
              <a:lnSpc>
                <a:spcPct val="100000"/>
              </a:lnSpc>
              <a:spcBef>
                <a:spcPct val="0"/>
              </a:spcBef>
            </a:pPr>
            <a:r>
              <a:rPr lang="zh-CN" altLang="en-US" dirty="0"/>
              <a:t>定期对数据库进行重组织，以提高系统的性能 </a:t>
            </a:r>
            <a:endParaRPr lang="zh-CN" altLang="en-US" dirty="0"/>
          </a:p>
          <a:p>
            <a:pPr lvl="1">
              <a:lnSpc>
                <a:spcPct val="100000"/>
              </a:lnSpc>
              <a:spcBef>
                <a:spcPct val="0"/>
              </a:spcBef>
            </a:pPr>
            <a:r>
              <a:rPr lang="zh-CN" altLang="en-US" dirty="0"/>
              <a:t>需求增加和改变时，数据库须需要重构造</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zh-CN" altLang="en-US" dirty="0"/>
              <a:t>系统分析员</a:t>
            </a:r>
            <a:r>
              <a:rPr lang="en-US" altLang="zh-CN" dirty="0"/>
              <a:t>/</a:t>
            </a:r>
            <a:r>
              <a:rPr lang="zh-CN" altLang="en-US" dirty="0"/>
              <a:t>数据库设计人员 </a:t>
            </a:r>
            <a:endParaRPr lang="zh-CN" altLang="en-US" dirty="0"/>
          </a:p>
        </p:txBody>
      </p:sp>
      <p:sp>
        <p:nvSpPr>
          <p:cNvPr id="144387" name="Rectangle 3"/>
          <p:cNvSpPr>
            <a:spLocks noGrp="1" noChangeArrowheads="1"/>
          </p:cNvSpPr>
          <p:nvPr>
            <p:ph idx="1"/>
          </p:nvPr>
        </p:nvSpPr>
        <p:spPr/>
        <p:txBody>
          <a:bodyPr>
            <a:normAutofit/>
          </a:bodyPr>
          <a:lstStyle/>
          <a:p>
            <a:r>
              <a:rPr lang="zh-CN" altLang="en-US" dirty="0">
                <a:solidFill>
                  <a:srgbClr val="FF0000"/>
                </a:solidFill>
              </a:rPr>
              <a:t>系统分析员</a:t>
            </a:r>
            <a:r>
              <a:rPr lang="zh-CN" altLang="en-US" dirty="0"/>
              <a:t> </a:t>
            </a:r>
            <a:endParaRPr lang="zh-CN" altLang="en-US" dirty="0"/>
          </a:p>
          <a:p>
            <a:pPr lvl="1"/>
            <a:r>
              <a:rPr lang="zh-CN" altLang="en-US" dirty="0"/>
              <a:t>负责应用系统的需求分析和规范说明</a:t>
            </a:r>
            <a:endParaRPr lang="zh-CN" altLang="en-US" dirty="0"/>
          </a:p>
          <a:p>
            <a:pPr lvl="1"/>
            <a:r>
              <a:rPr lang="zh-CN" altLang="en-US" dirty="0"/>
              <a:t>与用户及数据库管理员结合，确定系统的硬软件配置</a:t>
            </a:r>
            <a:endParaRPr lang="zh-CN" altLang="en-US" dirty="0"/>
          </a:p>
          <a:p>
            <a:pPr lvl="1"/>
            <a:r>
              <a:rPr lang="zh-CN" altLang="en-US" dirty="0"/>
              <a:t>参与数据库系统的概要设计</a:t>
            </a:r>
            <a:endParaRPr lang="zh-CN" altLang="en-US" dirty="0"/>
          </a:p>
          <a:p>
            <a:pPr lvl="1"/>
            <a:endParaRPr lang="en-US" altLang="zh-CN" dirty="0"/>
          </a:p>
          <a:p>
            <a:r>
              <a:rPr lang="zh-CN" altLang="en-US" dirty="0">
                <a:solidFill>
                  <a:srgbClr val="FF0000"/>
                </a:solidFill>
              </a:rPr>
              <a:t>数据库设计人员</a:t>
            </a:r>
            <a:endParaRPr lang="zh-CN" altLang="en-US" dirty="0"/>
          </a:p>
          <a:p>
            <a:pPr lvl="1"/>
            <a:r>
              <a:rPr lang="zh-CN" altLang="en-US" dirty="0"/>
              <a:t>参加用户需求调查和系统分析</a:t>
            </a:r>
            <a:endParaRPr lang="zh-CN" altLang="en-US" dirty="0"/>
          </a:p>
          <a:p>
            <a:pPr lvl="1"/>
            <a:r>
              <a:rPr lang="zh-CN" altLang="en-US" dirty="0"/>
              <a:t>确定数据库中的数据</a:t>
            </a:r>
            <a:endParaRPr lang="zh-CN" altLang="en-US" dirty="0"/>
          </a:p>
          <a:p>
            <a:pPr lvl="1"/>
            <a:r>
              <a:rPr lang="zh-CN" altLang="en-US" dirty="0"/>
              <a:t>设计数据库各级模式</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1026"/>
          <p:cNvSpPr>
            <a:spLocks noGrp="1" noChangeArrowheads="1"/>
          </p:cNvSpPr>
          <p:nvPr>
            <p:ph type="title"/>
          </p:nvPr>
        </p:nvSpPr>
        <p:spPr/>
        <p:txBody>
          <a:bodyPr/>
          <a:lstStyle/>
          <a:p>
            <a:r>
              <a:rPr lang="zh-CN" altLang="en-US" dirty="0"/>
              <a:t>应用程序员</a:t>
            </a:r>
            <a:r>
              <a:rPr lang="en-US" altLang="zh-CN" dirty="0"/>
              <a:t>/</a:t>
            </a:r>
            <a:r>
              <a:rPr lang="zh-CN" altLang="en-US" dirty="0"/>
              <a:t>最终用户</a:t>
            </a:r>
            <a:endParaRPr lang="zh-CN" altLang="en-US" dirty="0"/>
          </a:p>
        </p:txBody>
      </p:sp>
      <p:sp>
        <p:nvSpPr>
          <p:cNvPr id="146435" name="Rectangle 1027"/>
          <p:cNvSpPr>
            <a:spLocks noGrp="1" noChangeArrowheads="1"/>
          </p:cNvSpPr>
          <p:nvPr>
            <p:ph idx="1"/>
          </p:nvPr>
        </p:nvSpPr>
        <p:spPr/>
        <p:txBody>
          <a:bodyPr>
            <a:noAutofit/>
          </a:bodyPr>
          <a:lstStyle/>
          <a:p>
            <a:pPr>
              <a:lnSpc>
                <a:spcPct val="100000"/>
              </a:lnSpc>
              <a:spcBef>
                <a:spcPts val="0"/>
              </a:spcBef>
            </a:pPr>
            <a:r>
              <a:rPr lang="zh-CN" altLang="en-US" sz="2800" dirty="0">
                <a:solidFill>
                  <a:srgbClr val="FF0000"/>
                </a:solidFill>
                <a:latin typeface="Times New Roman" panose="02020603050405020304" pitchFamily="2" charset="0"/>
                <a:cs typeface="Times New Roman" panose="02020603050405020304" pitchFamily="2" charset="0"/>
              </a:rPr>
              <a:t>应用程序员</a:t>
            </a:r>
            <a:endParaRPr lang="en-US" altLang="zh-CN" sz="2800" dirty="0">
              <a:latin typeface="Times New Roman" panose="02020603050405020304" pitchFamily="2" charset="0"/>
              <a:cs typeface="Times New Roman" panose="02020603050405020304" pitchFamily="2" charset="0"/>
            </a:endParaRPr>
          </a:p>
          <a:p>
            <a:pPr lvl="1">
              <a:lnSpc>
                <a:spcPct val="100000"/>
              </a:lnSpc>
              <a:spcBef>
                <a:spcPts val="0"/>
              </a:spcBef>
            </a:pPr>
            <a:r>
              <a:rPr lang="zh-CN" altLang="en-US" sz="2800" dirty="0">
                <a:latin typeface="Times New Roman" panose="02020603050405020304" pitchFamily="2" charset="0"/>
                <a:cs typeface="Times New Roman" panose="02020603050405020304" pitchFamily="2" charset="0"/>
              </a:rPr>
              <a:t>设计和编写应用系统的程序模块</a:t>
            </a:r>
            <a:endParaRPr lang="zh-CN" altLang="en-US" sz="2800" dirty="0">
              <a:latin typeface="Times New Roman" panose="02020603050405020304" pitchFamily="2" charset="0"/>
              <a:cs typeface="Times New Roman" panose="02020603050405020304" pitchFamily="2" charset="0"/>
            </a:endParaRPr>
          </a:p>
          <a:p>
            <a:pPr lvl="1">
              <a:lnSpc>
                <a:spcPct val="100000"/>
              </a:lnSpc>
              <a:spcBef>
                <a:spcPts val="0"/>
              </a:spcBef>
            </a:pPr>
            <a:r>
              <a:rPr lang="zh-CN" altLang="en-US" sz="2800" dirty="0">
                <a:latin typeface="Times New Roman" panose="02020603050405020304" pitchFamily="2" charset="0"/>
                <a:cs typeface="Times New Roman" panose="02020603050405020304" pitchFamily="2" charset="0"/>
              </a:rPr>
              <a:t>进行调试和安装</a:t>
            </a:r>
            <a:endParaRPr lang="en-US" altLang="zh-CN" sz="2800" dirty="0">
              <a:latin typeface="Times New Roman" panose="02020603050405020304" pitchFamily="2" charset="0"/>
              <a:cs typeface="Times New Roman" panose="02020603050405020304" pitchFamily="2" charset="0"/>
            </a:endParaRPr>
          </a:p>
          <a:p>
            <a:pPr>
              <a:lnSpc>
                <a:spcPct val="100000"/>
              </a:lnSpc>
            </a:pPr>
            <a:r>
              <a:rPr lang="zh-CN" altLang="en-US" sz="2800" dirty="0">
                <a:solidFill>
                  <a:srgbClr val="FF0000"/>
                </a:solidFill>
                <a:latin typeface="Times New Roman" panose="02020603050405020304" pitchFamily="2" charset="0"/>
                <a:cs typeface="Times New Roman" panose="02020603050405020304" pitchFamily="2" charset="0"/>
              </a:rPr>
              <a:t>最终用户</a:t>
            </a:r>
            <a:r>
              <a:rPr lang="en-US" altLang="zh-CN" sz="2800" dirty="0">
                <a:latin typeface="Times New Roman" panose="02020603050405020304" pitchFamily="2" charset="0"/>
                <a:cs typeface="Times New Roman" panose="02020603050405020304" pitchFamily="2" charset="0"/>
              </a:rPr>
              <a:t>(</a:t>
            </a:r>
            <a:r>
              <a:rPr lang="en-US" altLang="zh-CN" sz="2800" dirty="0">
                <a:latin typeface="Times New Roman" panose="02020603050405020304" pitchFamily="2" charset="0"/>
                <a:cs typeface="Times New Roman" panose="02020603050405020304" pitchFamily="2" charset="0"/>
              </a:rPr>
              <a:t>End User): </a:t>
            </a:r>
            <a:r>
              <a:rPr lang="zh-CN" altLang="en-US" sz="2800" dirty="0">
                <a:latin typeface="Times New Roman" panose="02020603050405020304" pitchFamily="2" charset="0"/>
                <a:cs typeface="Times New Roman" panose="02020603050405020304" pitchFamily="2" charset="0"/>
              </a:rPr>
              <a:t>最终用户通过应用系统的用户接口使用数据库 </a:t>
            </a:r>
            <a:endParaRPr lang="zh-CN" altLang="en-US" sz="2800" dirty="0">
              <a:latin typeface="Times New Roman" panose="02020603050405020304" pitchFamily="2" charset="0"/>
              <a:cs typeface="Times New Roman" panose="02020603050405020304" pitchFamily="2" charset="0"/>
            </a:endParaRPr>
          </a:p>
          <a:p>
            <a:pPr lvl="1">
              <a:lnSpc>
                <a:spcPct val="100000"/>
              </a:lnSpc>
              <a:spcBef>
                <a:spcPts val="0"/>
              </a:spcBef>
            </a:pPr>
            <a:r>
              <a:rPr lang="zh-CN" altLang="en-US" sz="2400" dirty="0">
                <a:highlight>
                  <a:srgbClr val="FFFF00"/>
                </a:highlight>
                <a:latin typeface="Times New Roman" panose="02020603050405020304" pitchFamily="2" charset="0"/>
                <a:cs typeface="Times New Roman" panose="02020603050405020304" pitchFamily="2" charset="0"/>
              </a:rPr>
              <a:t>偶然用户</a:t>
            </a:r>
            <a:endParaRPr lang="zh-CN" altLang="en-US" sz="2400" dirty="0">
              <a:latin typeface="Times New Roman" panose="02020603050405020304" pitchFamily="2" charset="0"/>
              <a:cs typeface="Times New Roman" panose="02020603050405020304" pitchFamily="2" charset="0"/>
            </a:endParaRPr>
          </a:p>
          <a:p>
            <a:pPr lvl="2">
              <a:lnSpc>
                <a:spcPct val="100000"/>
              </a:lnSpc>
              <a:spcBef>
                <a:spcPts val="0"/>
              </a:spcBef>
            </a:pPr>
            <a:r>
              <a:rPr lang="zh-CN" altLang="en-US" sz="2400" dirty="0">
                <a:latin typeface="Times New Roman" panose="02020603050405020304" pitchFamily="2" charset="0"/>
                <a:cs typeface="Times New Roman" panose="02020603050405020304" pitchFamily="2" charset="0"/>
              </a:rPr>
              <a:t>不经常访问数据库，但每次访问时往往需要不同的数据库信息 </a:t>
            </a:r>
            <a:endParaRPr lang="zh-CN" altLang="en-US" sz="2400" dirty="0">
              <a:latin typeface="Times New Roman" panose="02020603050405020304" pitchFamily="2" charset="0"/>
              <a:cs typeface="Times New Roman" panose="02020603050405020304" pitchFamily="2" charset="0"/>
            </a:endParaRPr>
          </a:p>
          <a:p>
            <a:pPr lvl="2">
              <a:lnSpc>
                <a:spcPct val="100000"/>
              </a:lnSpc>
              <a:spcBef>
                <a:spcPts val="0"/>
              </a:spcBef>
            </a:pPr>
            <a:r>
              <a:rPr lang="zh-CN" altLang="en-US" sz="2400" dirty="0">
                <a:latin typeface="Times New Roman" panose="02020603050405020304" pitchFamily="2" charset="0"/>
                <a:cs typeface="Times New Roman" panose="02020603050405020304" pitchFamily="2" charset="0"/>
              </a:rPr>
              <a:t>企业或组织机构的高中级管理人员（一般通过软件工具来访问数据库）</a:t>
            </a:r>
            <a:endParaRPr lang="en-US" altLang="zh-CN" sz="2400" dirty="0">
              <a:latin typeface="Times New Roman" panose="02020603050405020304" pitchFamily="2" charset="0"/>
              <a:cs typeface="Times New Roman" panose="02020603050405020304" pitchFamily="2" charset="0"/>
            </a:endParaRPr>
          </a:p>
          <a:p>
            <a:pPr lvl="1">
              <a:lnSpc>
                <a:spcPct val="100000"/>
              </a:lnSpc>
              <a:spcBef>
                <a:spcPts val="0"/>
              </a:spcBef>
            </a:pPr>
            <a:r>
              <a:rPr lang="zh-CN" altLang="en-US" sz="2400" dirty="0">
                <a:highlight>
                  <a:srgbClr val="FFFF00"/>
                </a:highlight>
                <a:latin typeface="Times New Roman" panose="02020603050405020304" pitchFamily="2" charset="0"/>
                <a:cs typeface="Times New Roman" panose="02020603050405020304" pitchFamily="2" charset="0"/>
              </a:rPr>
              <a:t>简单用户</a:t>
            </a:r>
            <a:endParaRPr lang="zh-CN" altLang="en-US" sz="2400" dirty="0">
              <a:latin typeface="Times New Roman" panose="02020603050405020304" pitchFamily="2" charset="0"/>
              <a:cs typeface="Times New Roman" panose="02020603050405020304" pitchFamily="2" charset="0"/>
            </a:endParaRPr>
          </a:p>
          <a:p>
            <a:pPr lvl="2">
              <a:lnSpc>
                <a:spcPct val="100000"/>
              </a:lnSpc>
              <a:spcBef>
                <a:spcPts val="0"/>
              </a:spcBef>
            </a:pPr>
            <a:r>
              <a:rPr lang="zh-CN" altLang="en-US" sz="2400" dirty="0">
                <a:latin typeface="Times New Roman" panose="02020603050405020304" pitchFamily="2" charset="0"/>
                <a:cs typeface="Times New Roman" panose="02020603050405020304" pitchFamily="2" charset="0"/>
              </a:rPr>
              <a:t>通过操作业务系统来使用（查询和更新）数据库中的</a:t>
            </a:r>
            <a:r>
              <a:rPr lang="zh-CN" altLang="en-US" sz="2400" dirty="0">
                <a:latin typeface="Times New Roman" panose="02020603050405020304" pitchFamily="2" charset="0"/>
                <a:cs typeface="Times New Roman" panose="02020603050405020304" pitchFamily="2" charset="0"/>
              </a:rPr>
              <a:t>数据 </a:t>
            </a:r>
            <a:endParaRPr lang="zh-CN" altLang="en-US" sz="2400" dirty="0">
              <a:latin typeface="Times New Roman" panose="02020603050405020304" pitchFamily="2" charset="0"/>
              <a:cs typeface="Times New Roman" panose="02020603050405020304" pitchFamily="2" charset="0"/>
            </a:endParaRPr>
          </a:p>
          <a:p>
            <a:pPr lvl="2">
              <a:lnSpc>
                <a:spcPct val="100000"/>
              </a:lnSpc>
              <a:spcBef>
                <a:spcPts val="0"/>
              </a:spcBef>
            </a:pPr>
            <a:r>
              <a:rPr lang="zh-CN" altLang="en-US" sz="2400" dirty="0">
                <a:latin typeface="Times New Roman" panose="02020603050405020304" pitchFamily="2" charset="0"/>
                <a:cs typeface="Times New Roman" panose="02020603050405020304" pitchFamily="2" charset="0"/>
              </a:rPr>
              <a:t>银行的职员、机票预定人员、旅馆总台服务员（不需要直接访问</a:t>
            </a:r>
            <a:r>
              <a:rPr lang="zh-CN" altLang="en-US" sz="2400" dirty="0">
                <a:latin typeface="Times New Roman" panose="02020603050405020304" pitchFamily="2" charset="0"/>
                <a:cs typeface="Times New Roman" panose="02020603050405020304" pitchFamily="2" charset="0"/>
              </a:rPr>
              <a:t>数据库）</a:t>
            </a:r>
            <a:endParaRPr lang="zh-CN" altLang="en-US" sz="2400" dirty="0">
              <a:latin typeface="Times New Roman" panose="02020603050405020304" pitchFamily="2" charset="0"/>
              <a:cs typeface="Times New Roman" panose="02020603050405020304" pitchFamily="2" charset="0"/>
            </a:endParaRPr>
          </a:p>
          <a:p>
            <a:pPr lvl="1">
              <a:lnSpc>
                <a:spcPct val="100000"/>
              </a:lnSpc>
              <a:spcBef>
                <a:spcPts val="0"/>
              </a:spcBef>
            </a:pPr>
            <a:r>
              <a:rPr lang="zh-CN" altLang="en-US" sz="2400" dirty="0">
                <a:highlight>
                  <a:srgbClr val="FFFF00"/>
                </a:highlight>
                <a:latin typeface="Times New Roman" panose="02020603050405020304" pitchFamily="2" charset="0"/>
                <a:cs typeface="Times New Roman" panose="02020603050405020304" pitchFamily="2" charset="0"/>
              </a:rPr>
              <a:t>复杂用户</a:t>
            </a:r>
            <a:endParaRPr lang="zh-CN" altLang="en-US" sz="2400" dirty="0">
              <a:latin typeface="Times New Roman" panose="02020603050405020304" pitchFamily="2" charset="0"/>
              <a:cs typeface="Times New Roman" panose="02020603050405020304" pitchFamily="2" charset="0"/>
            </a:endParaRPr>
          </a:p>
          <a:p>
            <a:pPr lvl="2">
              <a:lnSpc>
                <a:spcPct val="100000"/>
              </a:lnSpc>
              <a:spcBef>
                <a:spcPts val="0"/>
              </a:spcBef>
            </a:pPr>
            <a:r>
              <a:rPr lang="zh-CN" altLang="en-US" sz="2400" dirty="0">
                <a:latin typeface="Times New Roman" panose="02020603050405020304" pitchFamily="2" charset="0"/>
                <a:cs typeface="Times New Roman" panose="02020603050405020304" pitchFamily="2" charset="0"/>
              </a:rPr>
              <a:t>工程师、科学家、经济学家、科技工作者等</a:t>
            </a:r>
            <a:endParaRPr lang="zh-CN" altLang="en-US" sz="2400" dirty="0">
              <a:latin typeface="Times New Roman" panose="02020603050405020304" pitchFamily="2" charset="0"/>
              <a:cs typeface="Times New Roman" panose="02020603050405020304" pitchFamily="2" charset="0"/>
            </a:endParaRPr>
          </a:p>
          <a:p>
            <a:pPr lvl="2">
              <a:lnSpc>
                <a:spcPct val="100000"/>
              </a:lnSpc>
              <a:spcBef>
                <a:spcPts val="0"/>
              </a:spcBef>
            </a:pPr>
            <a:r>
              <a:rPr lang="zh-CN" altLang="en-US" sz="2400" dirty="0">
                <a:latin typeface="Times New Roman" panose="02020603050405020304" pitchFamily="2" charset="0"/>
                <a:cs typeface="Times New Roman" panose="02020603050405020304" pitchFamily="2" charset="0"/>
              </a:rPr>
              <a:t>直接使用数据库语言访问数据库，甚至能够基于数据库管理系统的应用程序接口编制自己的应用程序</a:t>
            </a:r>
            <a:endParaRPr lang="zh-CN" altLang="en-US" sz="2400" dirty="0">
              <a:latin typeface="Times New Roman" panose="02020603050405020304" pitchFamily="2" charset="0"/>
              <a:cs typeface="Times New Roman" panose="02020603050405020304" pitchFamily="2"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Rectangle 2"/>
          <p:cNvSpPr>
            <a:spLocks noGrp="1"/>
          </p:cNvSpPr>
          <p:nvPr>
            <p:ph type="title"/>
          </p:nvPr>
        </p:nvSpPr>
        <p:spPr/>
        <p:txBody>
          <a:bodyPr wrap="square" tIns="0" bIns="0" anchor="ctr"/>
          <a:p>
            <a:pPr eaLnBrk="1" hangingPunct="1"/>
            <a:r>
              <a:rPr lang="zh-CN" altLang="en-US" dirty="0"/>
              <a:t>第</a:t>
            </a:r>
            <a:r>
              <a:rPr lang="en-US" altLang="zh-CN" dirty="0"/>
              <a:t> 1 </a:t>
            </a:r>
            <a:r>
              <a:rPr lang="zh-CN" altLang="en-US" dirty="0"/>
              <a:t>章  </a:t>
            </a:r>
            <a:r>
              <a:rPr lang="en-US" altLang="zh-CN" dirty="0"/>
              <a:t> </a:t>
            </a:r>
            <a:r>
              <a:rPr lang="zh-CN" altLang="en-US" dirty="0"/>
              <a:t>绪</a:t>
            </a:r>
            <a:r>
              <a:rPr lang="en-US" altLang="zh-CN" dirty="0"/>
              <a:t>  </a:t>
            </a:r>
            <a:r>
              <a:rPr lang="zh-CN" altLang="en-US" dirty="0"/>
              <a:t>论</a:t>
            </a:r>
            <a:endParaRPr lang="zh-CN" altLang="en-US" dirty="0"/>
          </a:p>
        </p:txBody>
      </p:sp>
      <p:sp>
        <p:nvSpPr>
          <p:cNvPr id="5124" name="Rectangle 3"/>
          <p:cNvSpPr>
            <a:spLocks noGrp="1"/>
          </p:cNvSpPr>
          <p:nvPr>
            <p:ph idx="1"/>
          </p:nvPr>
        </p:nvSpPr>
        <p:spPr/>
        <p:txBody>
          <a:bodyPr wrap="square" anchor="t"/>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1.1 数据库系统概述</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1.2 数据模型</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1.3 数据库系统的结构</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1.4 数据库系统的组成</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en-US" altLang="zh-CN" sz="3200" dirty="0">
                <a:solidFill>
                  <a:srgbClr val="FF0000"/>
                </a:solidFill>
                <a:latin typeface="Arial" panose="020B0604020202020204" pitchFamily="34" charset="0"/>
                <a:cs typeface="Arial" panose="020B0604020202020204" pitchFamily="34" charset="0"/>
                <a:sym typeface="Wingdings 3" panose="05040102010807070707" pitchFamily="2" charset="2"/>
              </a:rPr>
              <a:t>1.5 </a:t>
            </a:r>
            <a:r>
              <a:rPr lang="zh-CN" altLang="en-US" sz="3200" dirty="0">
                <a:solidFill>
                  <a:srgbClr val="FF0000"/>
                </a:solidFill>
                <a:latin typeface="Arial" panose="020B0604020202020204" pitchFamily="34" charset="0"/>
                <a:cs typeface="Arial" panose="020B0604020202020204" pitchFamily="34" charset="0"/>
                <a:sym typeface="Wingdings 3" panose="05040102010807070707" pitchFamily="2" charset="2"/>
              </a:rPr>
              <a:t>小结</a:t>
            </a:r>
            <a:endParaRPr lang="zh-CN" altLang="en-US" sz="3200" dirty="0">
              <a:solidFill>
                <a:srgbClr val="FF0000"/>
              </a:solidFill>
              <a:latin typeface="Arial" panose="020B0604020202020204" pitchFamily="34" charset="0"/>
              <a:cs typeface="Arial" panose="020B0604020202020204" pitchFamily="34" charset="0"/>
              <a:sym typeface="Wingdings 3" panose="05040102010807070707" pitchFamily="2" charset="2"/>
              <a:hlinkClick r:id="rId1" action="ppaction://hlinksldjump"/>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5" name="Rectangle 2"/>
          <p:cNvSpPr>
            <a:spLocks noGrp="1"/>
          </p:cNvSpPr>
          <p:nvPr>
            <p:ph type="title"/>
          </p:nvPr>
        </p:nvSpPr>
        <p:spPr/>
        <p:txBody>
          <a:bodyPr wrap="square" tIns="0" bIns="0" anchor="ctr"/>
          <a:p>
            <a:pPr eaLnBrk="1" hangingPunct="1"/>
            <a:r>
              <a:rPr lang="en-US" altLang="zh-CN"/>
              <a:t>1.5 </a:t>
            </a:r>
            <a:r>
              <a:rPr lang="zh-CN" altLang="en-US"/>
              <a:t>  小  结</a:t>
            </a:r>
            <a:endParaRPr lang="zh-CN" altLang="en-US"/>
          </a:p>
        </p:txBody>
      </p:sp>
      <p:sp>
        <p:nvSpPr>
          <p:cNvPr id="59396" name="Rectangle 3"/>
          <p:cNvSpPr>
            <a:spLocks noGrp="1"/>
          </p:cNvSpPr>
          <p:nvPr>
            <p:ph idx="1"/>
          </p:nvPr>
        </p:nvSpPr>
        <p:spPr>
          <a:xfrm>
            <a:off x="424180" y="687070"/>
            <a:ext cx="11343005" cy="6015990"/>
          </a:xfrm>
        </p:spPr>
        <p:txBody>
          <a:bodyPr wrap="square" anchor="t">
            <a:spAutoFit/>
          </a:bodyPr>
          <a:p>
            <a:pPr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数据库系统</a:t>
            </a:r>
            <a:r>
              <a:rPr lang="zh-CN" altLang="en-US" sz="2400" dirty="0">
                <a:latin typeface="楷体" panose="02010609060101010101" charset="-122"/>
                <a:ea typeface="楷体" panose="02010609060101010101" charset="-122"/>
                <a:cs typeface="楷体" panose="02010609060101010101" charset="-122"/>
              </a:rPr>
              <a:t>概述</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数据库的基本</a:t>
            </a:r>
            <a:r>
              <a:rPr lang="zh-CN" altLang="en-US" sz="2400" dirty="0">
                <a:latin typeface="楷体" panose="02010609060101010101" charset="-122"/>
                <a:ea typeface="楷体" panose="02010609060101010101" charset="-122"/>
                <a:cs typeface="楷体" panose="02010609060101010101" charset="-122"/>
              </a:rPr>
              <a:t>概念</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数据管理的发展</a:t>
            </a:r>
            <a:r>
              <a:rPr lang="zh-CN" altLang="en-US" sz="2400" dirty="0">
                <a:latin typeface="楷体" panose="02010609060101010101" charset="-122"/>
                <a:ea typeface="楷体" panose="02010609060101010101" charset="-122"/>
                <a:cs typeface="楷体" panose="02010609060101010101" charset="-122"/>
              </a:rPr>
              <a:t>过程</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数据库系统的</a:t>
            </a:r>
            <a:r>
              <a:rPr lang="zh-CN" altLang="en-US" sz="2400" dirty="0">
                <a:latin typeface="楷体" panose="02010609060101010101" charset="-122"/>
                <a:ea typeface="楷体" panose="02010609060101010101" charset="-122"/>
                <a:cs typeface="楷体" panose="02010609060101010101" charset="-122"/>
              </a:rPr>
              <a:t>特点</a:t>
            </a:r>
            <a:endParaRPr lang="zh-CN" altLang="en-US" sz="2400" dirty="0">
              <a:latin typeface="楷体" panose="02010609060101010101" charset="-122"/>
              <a:ea typeface="楷体" panose="02010609060101010101" charset="-122"/>
              <a:cs typeface="楷体" panose="02010609060101010101" charset="-122"/>
            </a:endParaRPr>
          </a:p>
          <a:p>
            <a:pPr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a:t>
            </a:r>
            <a:r>
              <a:rPr lang="zh-CN" altLang="en-US" sz="2400" dirty="0">
                <a:latin typeface="楷体" panose="02010609060101010101" charset="-122"/>
                <a:ea typeface="楷体" panose="02010609060101010101" charset="-122"/>
                <a:cs typeface="楷体" panose="02010609060101010101" charset="-122"/>
              </a:rPr>
              <a:t>模型</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数据模型的基本</a:t>
            </a:r>
            <a:r>
              <a:rPr lang="zh-CN" altLang="en-US" sz="2400" dirty="0">
                <a:latin typeface="楷体" panose="02010609060101010101" charset="-122"/>
                <a:ea typeface="楷体" panose="02010609060101010101" charset="-122"/>
                <a:cs typeface="楷体" panose="02010609060101010101" charset="-122"/>
              </a:rPr>
              <a:t>概念</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数据模型的三</a:t>
            </a:r>
            <a:r>
              <a:rPr lang="zh-CN" altLang="en-US" sz="2400" dirty="0">
                <a:latin typeface="楷体" panose="02010609060101010101" charset="-122"/>
                <a:ea typeface="楷体" panose="02010609060101010101" charset="-122"/>
                <a:cs typeface="楷体" panose="02010609060101010101" charset="-122"/>
              </a:rPr>
              <a:t>要素</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三种主要的数据</a:t>
            </a:r>
            <a:r>
              <a:rPr lang="zh-CN" altLang="en-US" sz="2400" dirty="0">
                <a:latin typeface="楷体" panose="02010609060101010101" charset="-122"/>
                <a:ea typeface="楷体" panose="02010609060101010101" charset="-122"/>
                <a:cs typeface="楷体" panose="02010609060101010101" charset="-122"/>
              </a:rPr>
              <a:t>模型</a:t>
            </a:r>
            <a:endParaRPr lang="zh-CN" altLang="en-US" sz="2400" dirty="0">
              <a:latin typeface="楷体" panose="02010609060101010101" charset="-122"/>
              <a:ea typeface="楷体" panose="02010609060101010101" charset="-122"/>
              <a:cs typeface="楷体" panose="02010609060101010101" charset="-122"/>
            </a:endParaRPr>
          </a:p>
          <a:p>
            <a:pPr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数据库系统内部的</a:t>
            </a:r>
            <a:r>
              <a:rPr lang="zh-CN" altLang="en-US" sz="2400" dirty="0">
                <a:latin typeface="楷体" panose="02010609060101010101" charset="-122"/>
                <a:ea typeface="楷体" panose="02010609060101010101" charset="-122"/>
                <a:cs typeface="楷体" panose="02010609060101010101" charset="-122"/>
              </a:rPr>
              <a:t>系统结构</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三级模式及其相互关系</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二级</a:t>
            </a:r>
            <a:r>
              <a:rPr lang="zh-CN" altLang="en-US" sz="2400" dirty="0">
                <a:latin typeface="楷体" panose="02010609060101010101" charset="-122"/>
                <a:ea typeface="楷体" panose="02010609060101010101" charset="-122"/>
                <a:cs typeface="楷体" panose="02010609060101010101" charset="-122"/>
              </a:rPr>
              <a:t>映像</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三级模式、二级</a:t>
            </a:r>
            <a:r>
              <a:rPr lang="zh-CN" altLang="en-US" sz="2400" dirty="0">
                <a:latin typeface="楷体" panose="02010609060101010101" charset="-122"/>
                <a:ea typeface="楷体" panose="02010609060101010101" charset="-122"/>
                <a:cs typeface="楷体" panose="02010609060101010101" charset="-122"/>
              </a:rPr>
              <a:t>映像、数据独立性的关系</a:t>
            </a:r>
            <a:endParaRPr lang="zh-CN" altLang="en-US" sz="2400" dirty="0">
              <a:latin typeface="楷体" panose="02010609060101010101" charset="-122"/>
              <a:ea typeface="楷体" panose="02010609060101010101" charset="-122"/>
              <a:cs typeface="楷体" panose="02010609060101010101" charset="-122"/>
            </a:endParaRPr>
          </a:p>
          <a:p>
            <a:pPr lvl="0"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数据库系统的</a:t>
            </a:r>
            <a:r>
              <a:rPr lang="zh-CN" altLang="en-US" sz="2400" dirty="0">
                <a:latin typeface="楷体" panose="02010609060101010101" charset="-122"/>
                <a:ea typeface="楷体" panose="02010609060101010101" charset="-122"/>
                <a:cs typeface="楷体" panose="02010609060101010101" charset="-122"/>
              </a:rPr>
              <a:t>组成</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数据库系统的组成</a:t>
            </a:r>
            <a:r>
              <a:rPr lang="zh-CN" altLang="en-US" sz="2400" dirty="0">
                <a:latin typeface="楷体" panose="02010609060101010101" charset="-122"/>
                <a:ea typeface="楷体" panose="02010609060101010101" charset="-122"/>
                <a:cs typeface="楷体" panose="02010609060101010101" charset="-122"/>
              </a:rPr>
              <a:t>成分</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a:t>
            </a:r>
            <a:r>
              <a:rPr lang="zh-CN" altLang="en-US" sz="2400" dirty="0">
                <a:latin typeface="楷体" panose="02010609060101010101" charset="-122"/>
                <a:ea typeface="楷体" panose="02010609060101010101" charset="-122"/>
                <a:cs typeface="楷体" panose="02010609060101010101" charset="-122"/>
              </a:rPr>
              <a:t>用户</a:t>
            </a:r>
            <a:endParaRPr lang="zh-CN" altLang="en-US" sz="2400" dirty="0">
              <a:latin typeface="楷体" panose="02010609060101010101" charset="-122"/>
              <a:ea typeface="楷体" panose="02010609060101010101" charset="-122"/>
              <a:cs typeface="楷体" panose="02010609060101010101" charset="-122"/>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wm#"/>
  <p:tag name="KSO_WM_TEMPLATE_CATEGORY" val="custom"/>
  <p:tag name="KSO_WM_TEMPLATE_INDEX" val="20205081"/>
</p:tagLst>
</file>

<file path=ppt/tags/tag6.xml><?xml version="1.0" encoding="utf-8"?>
<p:tagLst xmlns:p="http://schemas.openxmlformats.org/presentationml/2006/main">
  <p:tag name="commondata" val="eyJoZGlkIjoiZGQ1YjIwMGNiOWJjNzI3MjRkMjdlNjcyYWIwMTY0NjMifQ=="/>
  <p:tag name="resource_record_key" val="{&quot;70&quot;:[3314500]}"/>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4138</Words>
  <Application>WPS 演示</Application>
  <PresentationFormat>宽屏</PresentationFormat>
  <Paragraphs>472</Paragraphs>
  <Slides>30</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3</vt:i4>
      </vt:variant>
      <vt:variant>
        <vt:lpstr>幻灯片标题</vt:lpstr>
      </vt:variant>
      <vt:variant>
        <vt:i4>30</vt:i4>
      </vt:variant>
    </vt:vector>
  </HeadingPairs>
  <TitlesOfParts>
    <vt:vector size="53" baseType="lpstr">
      <vt:lpstr>Arial</vt:lpstr>
      <vt:lpstr>宋体</vt:lpstr>
      <vt:lpstr>Wingdings</vt:lpstr>
      <vt:lpstr>楷体</vt:lpstr>
      <vt:lpstr>Wingdings</vt:lpstr>
      <vt:lpstr>微软雅黑</vt:lpstr>
      <vt:lpstr>Times New Roman</vt:lpstr>
      <vt:lpstr>仿宋</vt:lpstr>
      <vt:lpstr>Wingdings 3</vt:lpstr>
      <vt:lpstr>华文新魏</vt:lpstr>
      <vt:lpstr>Arial Unicode MS</vt:lpstr>
      <vt:lpstr>Calibri</vt:lpstr>
      <vt:lpstr>Wingdings 2</vt:lpstr>
      <vt:lpstr>华文细黑</vt:lpstr>
      <vt:lpstr>Tahoma</vt:lpstr>
      <vt:lpstr>微软雅黑</vt:lpstr>
      <vt:lpstr>标准粗黑</vt:lpstr>
      <vt:lpstr>黑体</vt:lpstr>
      <vt:lpstr>Cambria Math</vt:lpstr>
      <vt:lpstr>WPS</vt:lpstr>
      <vt:lpstr>Word.Picture.8</vt:lpstr>
      <vt:lpstr>Paint.Picture</vt:lpstr>
      <vt:lpstr>Paint.Picture</vt:lpstr>
      <vt:lpstr>PowerPoint 演示文稿</vt:lpstr>
      <vt:lpstr>第 1 章   绪  论</vt:lpstr>
      <vt:lpstr>1.3  数据库系统的结构</vt:lpstr>
      <vt:lpstr>模式和实例（1）</vt:lpstr>
      <vt:lpstr>模式和实例（2）</vt:lpstr>
      <vt:lpstr>图1.16  数据库系统的三级模式结构</vt:lpstr>
      <vt:lpstr>模式（Schema）</vt:lpstr>
      <vt:lpstr>外模式（1）</vt:lpstr>
      <vt:lpstr>外模式（2）</vt:lpstr>
      <vt:lpstr>内模式（Internal Schema）</vt:lpstr>
      <vt:lpstr>数据库的二级映像与数据独立性</vt:lpstr>
      <vt:lpstr>外模式／模式映像</vt:lpstr>
      <vt:lpstr>模式／内模式映像</vt:lpstr>
      <vt:lpstr>数据库的二级映像（1）</vt:lpstr>
      <vt:lpstr>数据库的二级映像（2）</vt:lpstr>
      <vt:lpstr>数据库的二级映像（3）</vt:lpstr>
      <vt:lpstr>三级模式与 DBMS、应用程序之间的关系</vt:lpstr>
      <vt:lpstr>1.3  数据库系统的结构</vt:lpstr>
      <vt:lpstr>Architecture of Database System</vt:lpstr>
      <vt:lpstr>Two-tier Architechture   vs.  Three-tier Architechture</vt:lpstr>
      <vt:lpstr>Two-tier Architechture   vs.  Three-tier Architechture</vt:lpstr>
      <vt:lpstr>Two-tier Architechture   vs.  Three-tier Architechture</vt:lpstr>
      <vt:lpstr>第 1 章   绪  论</vt:lpstr>
      <vt:lpstr>数据库系统的组成-软硬件平台</vt:lpstr>
      <vt:lpstr>数据库系统的组成-人员</vt:lpstr>
      <vt:lpstr>数据库管理员（DBA）</vt:lpstr>
      <vt:lpstr>系统分析员/数据库设计人员 </vt:lpstr>
      <vt:lpstr>应用程序员/最终用户</vt:lpstr>
      <vt:lpstr>第 1 章   绪  论</vt:lpstr>
      <vt:lpstr>1.5   小  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pc403</dc:creator>
  <cp:lastModifiedBy>百老汇</cp:lastModifiedBy>
  <cp:revision>132</cp:revision>
  <dcterms:created xsi:type="dcterms:W3CDTF">2023-08-09T12:44:00Z</dcterms:created>
  <dcterms:modified xsi:type="dcterms:W3CDTF">2026-02-24T15:37:35Z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F22AB8B0EF7A4E5288430CA892E7BCBA_13</vt:lpwstr>
  </property>
  <property fmtid="{D5CDD505-2E9C-101B-9397-08002B2CF9AE}" pid="3" name="KSOProductBuildVer">
    <vt:lpwstr>2052-12.1.0.16250</vt:lpwstr>
  </property>
</Properties>
</file>